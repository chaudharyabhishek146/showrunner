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 this is the Platform Walkthrough Agent.
The one-line version: it gives the product demo for you. You upload a product document, tell it what to show, and point it at one of your open browser tabs. It plans the walkthrough against the page that's actually on screen, drives your own signed-in Chrome, narrates as it goes — and when someone interrupts with a question, it freezes mid-step, answers from the doc and the live screen, and resumes exactly where it stopped.
I want to spend most of this on two things: the interruption handling, which is the part that's actually hard, and the seven bugs that only showed up when I pointed it at a real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I actually cared about.
Anyone can script a browser. Recording a demo is solved, and clicking through one yourself is solved. The engineering that matters is what happens when the customer interrupts — because that is the entire difference between a demo and a screen recording.
A recording can't answer a question. A scripted click-through loses its place. So the design question I started from wasn't 'can it drive a browser' — it was 'can it be interrupted and survive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a run, and the ordering matters more than it looks.
You upload the product document. You say what to demo, in plain English. The agent attaches to your Chrome over the DevTools protocol — your Chrome, the one you're already signed into — and picks the tab you named. Then, and only then, it reads an accessibility outline of the page that's actually open, and plans against those controls.
That ordering — attach, pick the tab, read the page, THEN plan — is the whole reason one prompt works on a site the code has never seen. It isn't planning from memory of what GitHub looks like. It's planning from what's on the screen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like to be judged on.
Mid-demo, I asked it: 'show me how to filter the results.' Watch what it does. It answers — grounded in the doc and the screenshot. Then it decides that wasn't a question, it was a redirect, so it re-plans only the remaining steps and actually goes and clicks the filter chip. It demonstrates the thing instead of describing it.
Answering and deciding-whether-to-redirect are the same judgement, so they're one API call — a second classifier round trip would double the pause the customer sits through.
And getting here required fixing a real bug: the run loop held the executing step in a local variable, so swapping the plan mid-step finished the old step and advanced straight past the new one. The customer got a tidy answer and watched the demo carry on as though they hadn't spoken. There's a test pinning that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that nothing about any site is compiled in. Here's the evidence rather than the assertion.
Two runs, same server, same code, real Claude, real Chrome. The only difference between them is the document I uploaded, the sentence describing the flow, and the tab I named. One demos YouTube. One demos GitHub Explore — and takes an in-scope hop to github.com/trending on the way.
Both handled a mid-demo interruption. On the YouTube one, someone asked about cross-device sync — which isn't in the document. It said so, and declined to guess. That's the behaviour you want in front of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the architecture.
Next.js talks to FastAPI over a WebSocket for the demo itself, plus plain REST for setup so the tab picker works before any session exists. The StepExecutor owns the pause gate. Playwright attaches over CDP to your own Chrome.
Two details worth calling out. First, the overlay: the OS mouse pointer is not composited into screenshots, so without it the audience watches buttons activate by themselves. The agent draws its own cursor, spotlight and caption into the page — which also means the browser window is self-explanatory when it's shared without the app.
Second, the action vocabulary is closed: six verbs, and elements are addressed by ARIA role plus accessible name. Claude never emits a CSS selector. Products rewrite their class names constantly; what a control is and what it's called survive a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briefly — because this is an LLM-authored plan driving a browser signed into real accounts.
Credentials are never typed. There is no login-form code path at all. Authentication comes from the browser profile you're already signed into, which means the whole class of problem disappears rather than being managed. The only secret in the repo is the Anthropic API key.
The navigation allowlist is derived from the tab you picked — its host plus its registrable domain — and it's enforced twice in code: once when sanitising the plan, and again immediately before the navigation happens. With no tab chosen, the allowlist is empty and everything fails closed. The prompt asks; the code enforces.
And it asks whether you want to sign in before it plans anything, because signed-out and signed-in are different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favourite slide, and it's the one I'd point a sceptical judge at.
Seven defects. Every one of them passed unit tests and failed in front of a live page.
YouTube enforces a Trusted Types CSP, so building the cursor with innerHTML threw — and took the whole overlay down with it, including the captions. Single-page apps re-render document.body and took our injected nodes with them, so the cursor silently vanished part-way through. Substring name matching meant every click meant for the sidebar 'You' entry landed on the YouTube logo, because a union locator returns matches in DOM order — the page was choosing, not us. And the search step typed into a button: YouTube's search field is a combobox, not a textbox, so the role fallback chain reached the Search button. Typing into a button raises nothing and does nothing, and the trace still said 'typed into Search'.
The point isn't that I wrote bugs. It's that none of these are findable without pointing the thing at a real product, and all of them would have been visible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all from runs in this build — nothing estimated.
Cold start: 2.7 seconds from no browser at all to attached and sitting on the product. If the debug port isn't open, the agent runs the launch command itself.
Pause takes 1.52 seconds to actually park, and that's deliberate — an action already in flight runs to completion, because cancelling mid-action would leave a half-typed field on screen in front of the customer. Zero actions start after it's parked. The UI is honest about the gap: it reads PAUSING while the browser is still settling, and only flips to PAUSED once it's actually stopped.
And 25 hermetic tests in 2.7 seconds — no network, no Claude calls, no browser — so the pause/resume guarantee is verified on every commit rather than rehearsed before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piece — this is what turns a demo script into shared infrastructure.
The walkthrough is registered as a Worker Agent Skill: versioned, RBAC-governed, callable from the catalog by any team. A solutions engineer in another region invokes the same skill instead of rebuilding the demo. Sessions pin to the skill version they started on, so a deploy can never change the demo out from under a customer who's mid-call.
The pipeline's real gate is the pause/resume test suite. A walkthrough that rewinds when someone asks a question is worse than no demo at all, so that behaviour is verified on every commit rather than rehearsed before every call.
And the rollback policy watches for the failure that actually hurts: stuck-pause — a session that paused for a question and never resumed. That's a browser frozen mid-sentence in front of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claims, and I've shown evidence for each: interruption handling is the product and it's asserted by test; nothing about any site is compiled in, demonstrated by running the same build against two products; and real products break agents in ways unit tests don't catch.
Two things I want to be straight about. The 'yes, I'll sign in' branch has unit coverage for its prompt mechanics but hasn't been through a real interactive login — deliberately, because the agent has no way to do that itself and shouldn't. And every live run so far has been driven by a scripted WebSocket client; the UI is verified by screenshot and type-check, not a full human click-through.
The bonus features are all in: voice narration that cancels the instant someone interrupts, plan-changing interruptions, and workflow memory so the second demo of the same product skips planning entirely.
Happy to run it live right now — it's locked to a two-minute YouTube demo, one button, and it'll open Chrome itself.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19"/>
        </a:solidFill>
      </p:bgPr>
    </p:bg>
    <p:spTree>
      <p:nvGrpSpPr>
        <p:cNvPr id="1" name=""/>
        <p:cNvGrpSpPr/>
        <p:nvPr/>
      </p:nvGrpSpPr>
      <p:grpSpPr>
        <a:xfrm>
          <a:off x="0" y="0"/>
          <a:ext cx="0" cy="0"/>
          <a:chOff x="0" y="0"/>
          <a:chExt cx="0" cy="0"/>
        </a:xfrm>
      </p:grpSpPr>
      <p:sp>
        <p:nvSpPr>
          <p:cNvPr id="3" name="Shape 0"/>
          <p:cNvSpPr/>
          <p:nvPr/>
        </p:nvSpPr>
        <p:spPr>
          <a:xfrm>
            <a:off x="566928" y="1783080"/>
            <a:ext cx="310896" cy="310896"/>
          </a:xfrm>
          <a:prstGeom prst="ellipse">
            <a:avLst/>
          </a:prstGeom>
          <a:solidFill>
            <a:srgbClr val="0F1219"/>
          </a:solidFill>
          <a:ln w="38100">
            <a:solidFill>
              <a:srgbClr val="FF5C00"/>
            </a:solidFill>
            <a:prstDash val="solid"/>
          </a:ln>
        </p:spPr>
      </p:sp>
      <p:sp>
        <p:nvSpPr>
          <p:cNvPr id="4" name="Text 1"/>
          <p:cNvSpPr/>
          <p:nvPr/>
        </p:nvSpPr>
        <p:spPr>
          <a:xfrm>
            <a:off x="1097280" y="1810512"/>
            <a:ext cx="5486400" cy="274320"/>
          </a:xfrm>
          <a:prstGeom prst="rect">
            <a:avLst/>
          </a:prstGeom>
          <a:noFill/>
          <a:ln/>
        </p:spPr>
        <p:txBody>
          <a:bodyPr wrap="square" lIns="0" tIns="0" rIns="0" bIns="0" rtlCol="0" anchor="ctr"/>
          <a:lstStyle/>
          <a:p>
            <a:pPr indent="0" marL="0">
              <a:buNone/>
            </a:pPr>
            <a:r>
              <a:rPr lang="en-US" sz="1200" b="1" spc="250" kern="0" dirty="0">
                <a:solidFill>
                  <a:srgbClr val="FF5C00"/>
                </a:solidFill>
                <a:latin typeface="Calibri" pitchFamily="34" charset="0"/>
                <a:ea typeface="Calibri" pitchFamily="34" charset="-122"/>
                <a:cs typeface="Calibri" pitchFamily="34" charset="-120"/>
              </a:rPr>
              <a:t>HACKATHON SUBMISSION</a:t>
            </a:r>
            <a:endParaRPr lang="en-US" sz="1200" dirty="0"/>
          </a:p>
        </p:txBody>
      </p:sp>
      <p:sp>
        <p:nvSpPr>
          <p:cNvPr id="5" name="Text 2"/>
          <p:cNvSpPr/>
          <p:nvPr/>
        </p:nvSpPr>
        <p:spPr>
          <a:xfrm>
            <a:off x="566928" y="2286000"/>
            <a:ext cx="6949440" cy="1828800"/>
          </a:xfrm>
          <a:prstGeom prst="rect">
            <a:avLst/>
          </a:prstGeom>
          <a:noFill/>
          <a:ln/>
        </p:spPr>
        <p:txBody>
          <a:bodyPr wrap="square" lIns="0" tIns="0" rIns="0" bIns="0" rtlCol="0" anchor="ctr"/>
          <a:lstStyle/>
          <a:p>
            <a:pPr indent="0" marL="0">
              <a:lnSpc>
                <a:spcPts val="5800"/>
              </a:lnSpc>
              <a:buNone/>
            </a:pPr>
            <a:r>
              <a:rPr lang="en-US" sz="5200" b="1" dirty="0">
                <a:solidFill>
                  <a:srgbClr val="EDF1F8"/>
                </a:solidFill>
                <a:latin typeface="Cambria" pitchFamily="34" charset="0"/>
                <a:ea typeface="Cambria" pitchFamily="34" charset="-122"/>
                <a:cs typeface="Cambria" pitchFamily="34" charset="-120"/>
              </a:rPr>
              <a:t>Platform</a:t>
            </a:r>
            <a:endParaRPr lang="en-US" sz="5200" dirty="0"/>
          </a:p>
          <a:p>
            <a:pPr indent="0" marL="0">
              <a:lnSpc>
                <a:spcPts val="5800"/>
              </a:lnSpc>
              <a:buNone/>
            </a:pPr>
            <a:r>
              <a:rPr lang="en-US" sz="5200" b="1" dirty="0">
                <a:solidFill>
                  <a:srgbClr val="EDF1F8"/>
                </a:solidFill>
                <a:latin typeface="Cambria" pitchFamily="34" charset="0"/>
                <a:ea typeface="Cambria" pitchFamily="34" charset="-122"/>
                <a:cs typeface="Cambria" pitchFamily="34" charset="-120"/>
              </a:rPr>
              <a:t>Walkthrough Agent</a:t>
            </a:r>
            <a:endParaRPr lang="en-US" sz="5200" dirty="0"/>
          </a:p>
        </p:txBody>
      </p:sp>
      <p:sp>
        <p:nvSpPr>
          <p:cNvPr id="6" name="Text 3"/>
          <p:cNvSpPr/>
          <p:nvPr/>
        </p:nvSpPr>
        <p:spPr>
          <a:xfrm>
            <a:off x="566928" y="4251960"/>
            <a:ext cx="6766560" cy="868680"/>
          </a:xfrm>
          <a:prstGeom prst="rect">
            <a:avLst/>
          </a:prstGeom>
          <a:noFill/>
          <a:ln/>
        </p:spPr>
        <p:txBody>
          <a:bodyPr wrap="square" lIns="0" tIns="0" rIns="0" bIns="0" rtlCol="0" anchor="ctr"/>
          <a:lstStyle/>
          <a:p>
            <a:pPr indent="0" marL="0">
              <a:lnSpc>
                <a:spcPts val="2600"/>
              </a:lnSpc>
              <a:buNone/>
            </a:pPr>
            <a:r>
              <a:rPr lang="en-US" sz="1700" dirty="0">
                <a:solidFill>
                  <a:srgbClr val="8E99AE"/>
                </a:solidFill>
                <a:latin typeface="Calibri" pitchFamily="34" charset="0"/>
                <a:ea typeface="Calibri" pitchFamily="34" charset="-122"/>
                <a:cs typeface="Calibri" pitchFamily="34" charset="-120"/>
              </a:rPr>
              <a:t>An agent that gives the product demo — in your own browser, on the real product, and it stops when you ask it something.</a:t>
            </a:r>
            <a:endParaRPr lang="en-US" sz="1700" dirty="0"/>
          </a:p>
        </p:txBody>
      </p:sp>
      <p:sp>
        <p:nvSpPr>
          <p:cNvPr id="7" name="Shape 4"/>
          <p:cNvSpPr/>
          <p:nvPr/>
        </p:nvSpPr>
        <p:spPr>
          <a:xfrm>
            <a:off x="566928" y="5349240"/>
            <a:ext cx="1481328" cy="329184"/>
          </a:xfrm>
          <a:prstGeom prst="roundRect">
            <a:avLst>
              <a:gd name="adj" fmla="val 50000"/>
            </a:avLst>
          </a:prstGeom>
          <a:solidFill>
            <a:srgbClr val="1A202C"/>
          </a:solidFill>
          <a:ln w="12700">
            <a:solidFill>
              <a:srgbClr val="232B3A"/>
            </a:solidFill>
            <a:prstDash val="solid"/>
          </a:ln>
        </p:spPr>
      </p:sp>
      <p:sp>
        <p:nvSpPr>
          <p:cNvPr id="8" name="Text 5"/>
          <p:cNvSpPr/>
          <p:nvPr/>
        </p:nvSpPr>
        <p:spPr>
          <a:xfrm>
            <a:off x="566928" y="5349240"/>
            <a:ext cx="1481328" cy="329184"/>
          </a:xfrm>
          <a:prstGeom prst="rect">
            <a:avLst/>
          </a:prstGeom>
          <a:noFill/>
          <a:ln/>
        </p:spPr>
        <p:txBody>
          <a:bodyPr wrap="square" lIns="0" tIns="0" rIns="0" bIns="0" rtlCol="0" anchor="ctr"/>
          <a:lstStyle/>
          <a:p>
            <a:pPr algn="ctr" indent="0" marL="0">
              <a:buNone/>
            </a:pPr>
            <a:r>
              <a:rPr lang="en-US" sz="1200" dirty="0">
                <a:solidFill>
                  <a:srgbClr val="8E99AE"/>
                </a:solidFill>
                <a:latin typeface="Calibri" pitchFamily="34" charset="0"/>
                <a:ea typeface="Calibri" pitchFamily="34" charset="-122"/>
                <a:cs typeface="Calibri" pitchFamily="34" charset="-120"/>
              </a:rPr>
              <a:t>FastAPI</a:t>
            </a:r>
            <a:endParaRPr lang="en-US" sz="1200" dirty="0"/>
          </a:p>
        </p:txBody>
      </p:sp>
      <p:sp>
        <p:nvSpPr>
          <p:cNvPr id="9" name="Shape 6"/>
          <p:cNvSpPr/>
          <p:nvPr/>
        </p:nvSpPr>
        <p:spPr>
          <a:xfrm>
            <a:off x="2194560" y="5349240"/>
            <a:ext cx="2798064" cy="329184"/>
          </a:xfrm>
          <a:prstGeom prst="roundRect">
            <a:avLst>
              <a:gd name="adj" fmla="val 50000"/>
            </a:avLst>
          </a:prstGeom>
          <a:solidFill>
            <a:srgbClr val="1A202C"/>
          </a:solidFill>
          <a:ln w="12700">
            <a:solidFill>
              <a:srgbClr val="232B3A"/>
            </a:solidFill>
            <a:prstDash val="solid"/>
          </a:ln>
        </p:spPr>
      </p:sp>
      <p:sp>
        <p:nvSpPr>
          <p:cNvPr id="10" name="Text 7"/>
          <p:cNvSpPr/>
          <p:nvPr/>
        </p:nvSpPr>
        <p:spPr>
          <a:xfrm>
            <a:off x="2194560" y="5349240"/>
            <a:ext cx="2798064" cy="329184"/>
          </a:xfrm>
          <a:prstGeom prst="rect">
            <a:avLst/>
          </a:prstGeom>
          <a:noFill/>
          <a:ln/>
        </p:spPr>
        <p:txBody>
          <a:bodyPr wrap="square" lIns="0" tIns="0" rIns="0" bIns="0" rtlCol="0" anchor="ctr"/>
          <a:lstStyle/>
          <a:p>
            <a:pPr algn="ctr" indent="0" marL="0">
              <a:buNone/>
            </a:pPr>
            <a:r>
              <a:rPr lang="en-US" sz="1200" dirty="0">
                <a:solidFill>
                  <a:srgbClr val="8E99AE"/>
                </a:solidFill>
                <a:latin typeface="Calibri" pitchFamily="34" charset="0"/>
                <a:ea typeface="Calibri" pitchFamily="34" charset="-122"/>
                <a:cs typeface="Calibri" pitchFamily="34" charset="-120"/>
              </a:rPr>
              <a:t>Playwright / CDP</a:t>
            </a:r>
            <a:endParaRPr lang="en-US" sz="1200" dirty="0"/>
          </a:p>
        </p:txBody>
      </p:sp>
      <p:sp>
        <p:nvSpPr>
          <p:cNvPr id="11" name="Shape 8"/>
          <p:cNvSpPr/>
          <p:nvPr/>
        </p:nvSpPr>
        <p:spPr>
          <a:xfrm>
            <a:off x="566928" y="5806440"/>
            <a:ext cx="2359152" cy="329184"/>
          </a:xfrm>
          <a:prstGeom prst="roundRect">
            <a:avLst>
              <a:gd name="adj" fmla="val 50000"/>
            </a:avLst>
          </a:prstGeom>
          <a:solidFill>
            <a:srgbClr val="1A202C"/>
          </a:solidFill>
          <a:ln w="12700">
            <a:solidFill>
              <a:srgbClr val="232B3A"/>
            </a:solidFill>
            <a:prstDash val="solid"/>
          </a:ln>
        </p:spPr>
      </p:sp>
      <p:sp>
        <p:nvSpPr>
          <p:cNvPr id="12" name="Text 9"/>
          <p:cNvSpPr/>
          <p:nvPr/>
        </p:nvSpPr>
        <p:spPr>
          <a:xfrm>
            <a:off x="566928" y="5806440"/>
            <a:ext cx="2359152" cy="329184"/>
          </a:xfrm>
          <a:prstGeom prst="rect">
            <a:avLst/>
          </a:prstGeom>
          <a:noFill/>
          <a:ln/>
        </p:spPr>
        <p:txBody>
          <a:bodyPr wrap="square" lIns="0" tIns="0" rIns="0" bIns="0" rtlCol="0" anchor="ctr"/>
          <a:lstStyle/>
          <a:p>
            <a:pPr algn="ctr" indent="0" marL="0">
              <a:buNone/>
            </a:pPr>
            <a:r>
              <a:rPr lang="en-US" sz="1200" dirty="0">
                <a:solidFill>
                  <a:srgbClr val="8E99AE"/>
                </a:solidFill>
                <a:latin typeface="Calibri" pitchFamily="34" charset="0"/>
                <a:ea typeface="Calibri" pitchFamily="34" charset="-122"/>
                <a:cs typeface="Calibri" pitchFamily="34" charset="-120"/>
              </a:rPr>
              <a:t>Claude Opus 5</a:t>
            </a:r>
            <a:endParaRPr lang="en-US" sz="1200" dirty="0"/>
          </a:p>
        </p:txBody>
      </p:sp>
      <p:sp>
        <p:nvSpPr>
          <p:cNvPr id="13" name="Shape 10"/>
          <p:cNvSpPr/>
          <p:nvPr/>
        </p:nvSpPr>
        <p:spPr>
          <a:xfrm>
            <a:off x="3072384" y="5806440"/>
            <a:ext cx="1920240" cy="329184"/>
          </a:xfrm>
          <a:prstGeom prst="roundRect">
            <a:avLst>
              <a:gd name="adj" fmla="val 50000"/>
            </a:avLst>
          </a:prstGeom>
          <a:solidFill>
            <a:srgbClr val="1A202C"/>
          </a:solidFill>
          <a:ln w="12700">
            <a:solidFill>
              <a:srgbClr val="232B3A"/>
            </a:solidFill>
            <a:prstDash val="solid"/>
          </a:ln>
        </p:spPr>
      </p:sp>
      <p:sp>
        <p:nvSpPr>
          <p:cNvPr id="14" name="Text 11"/>
          <p:cNvSpPr/>
          <p:nvPr/>
        </p:nvSpPr>
        <p:spPr>
          <a:xfrm>
            <a:off x="3072384" y="5806440"/>
            <a:ext cx="1920240" cy="329184"/>
          </a:xfrm>
          <a:prstGeom prst="rect">
            <a:avLst/>
          </a:prstGeom>
          <a:noFill/>
          <a:ln/>
        </p:spPr>
        <p:txBody>
          <a:bodyPr wrap="square" lIns="0" tIns="0" rIns="0" bIns="0" rtlCol="0" anchor="ctr"/>
          <a:lstStyle/>
          <a:p>
            <a:pPr algn="ctr" indent="0" marL="0">
              <a:buNone/>
            </a:pPr>
            <a:r>
              <a:rPr lang="en-US" sz="1200" dirty="0">
                <a:solidFill>
                  <a:srgbClr val="8E99AE"/>
                </a:solidFill>
                <a:latin typeface="Calibri" pitchFamily="34" charset="0"/>
                <a:ea typeface="Calibri" pitchFamily="34" charset="-122"/>
                <a:cs typeface="Calibri" pitchFamily="34" charset="-120"/>
              </a:rPr>
              <a:t>Next.js 15</a:t>
            </a:r>
            <a:endParaRPr lang="en-US" sz="1200" dirty="0"/>
          </a:p>
        </p:txBody>
      </p:sp>
      <p:sp>
        <p:nvSpPr>
          <p:cNvPr id="15" name="Shape 12"/>
          <p:cNvSpPr/>
          <p:nvPr/>
        </p:nvSpPr>
        <p:spPr>
          <a:xfrm>
            <a:off x="7772400" y="2103120"/>
            <a:ext cx="3840480" cy="3703320"/>
          </a:xfrm>
          <a:prstGeom prst="roundRect">
            <a:avLst>
              <a:gd name="adj" fmla="val 1975"/>
            </a:avLst>
          </a:prstGeom>
          <a:solidFill>
            <a:srgbClr val="1A202C"/>
          </a:solidFill>
          <a:ln w="6350">
            <a:solidFill>
              <a:srgbClr val="1A202C"/>
            </a:solidFill>
            <a:prstDash val="solid"/>
          </a:ln>
        </p:spPr>
      </p:sp>
      <p:sp>
        <p:nvSpPr>
          <p:cNvPr id="16" name="Text 13"/>
          <p:cNvSpPr/>
          <p:nvPr/>
        </p:nvSpPr>
        <p:spPr>
          <a:xfrm>
            <a:off x="8046720" y="2331720"/>
            <a:ext cx="3291840" cy="256032"/>
          </a:xfrm>
          <a:prstGeom prst="rect">
            <a:avLst/>
          </a:prstGeom>
          <a:noFill/>
          <a:ln/>
        </p:spPr>
        <p:txBody>
          <a:bodyPr wrap="square" lIns="0" tIns="0" rIns="0" bIns="0" rtlCol="0" anchor="ctr"/>
          <a:lstStyle/>
          <a:p>
            <a:pPr indent="0" marL="0">
              <a:buNone/>
            </a:pPr>
            <a:r>
              <a:rPr lang="en-US" sz="1000" b="1" spc="200" kern="0" dirty="0">
                <a:solidFill>
                  <a:srgbClr val="FF5C00"/>
                </a:solidFill>
                <a:latin typeface="Calibri" pitchFamily="34" charset="0"/>
                <a:ea typeface="Calibri" pitchFamily="34" charset="-122"/>
                <a:cs typeface="Calibri" pitchFamily="34" charset="-120"/>
              </a:rPr>
              <a:t>A LIVE RUN</a:t>
            </a:r>
            <a:endParaRPr lang="en-US" sz="1000" dirty="0"/>
          </a:p>
        </p:txBody>
      </p:sp>
      <p:sp>
        <p:nvSpPr>
          <p:cNvPr id="17" name="Shape 14"/>
          <p:cNvSpPr/>
          <p:nvPr/>
        </p:nvSpPr>
        <p:spPr>
          <a:xfrm>
            <a:off x="8046720" y="2697480"/>
            <a:ext cx="3291840" cy="2539111"/>
          </a:xfrm>
          <a:prstGeom prst="roundRect">
            <a:avLst>
              <a:gd name="adj" fmla="val 1801"/>
            </a:avLst>
          </a:prstGeom>
          <a:solidFill>
            <a:srgbClr val="0A0D13"/>
          </a:solidFill>
          <a:ln w="12700">
            <a:solidFill>
              <a:srgbClr val="232B3A"/>
            </a:solidFill>
            <a:prstDash val="solid"/>
          </a:ln>
        </p:spPr>
      </p:sp>
      <p:sp>
        <p:nvSpPr>
          <p:cNvPr id="18" name="Text 15"/>
          <p:cNvSpPr/>
          <p:nvPr/>
        </p:nvSpPr>
        <p:spPr>
          <a:xfrm>
            <a:off x="8247888" y="2843784"/>
            <a:ext cx="2889504" cy="2246503"/>
          </a:xfrm>
          <a:prstGeom prst="rect">
            <a:avLst/>
          </a:prstGeom>
          <a:noFill/>
          <a:ln/>
        </p:spPr>
        <p:txBody>
          <a:bodyPr wrap="square" lIns="0" tIns="0" rIns="0" bIns="0" rtlCol="0" anchor="t"/>
          <a:lstStyle/>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2.7s  Chrome attached</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16.7s PLAN: 3 steps</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22.6s step 1 done</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      "Any questions?"</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26.6s &gt;&gt;&gt; show me how</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      to filter</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33.0s re-planning...</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65.5s clicked</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      'Jet engines'</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156s  [complete]</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      errors: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THE PROBLEM</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Anyone can script a browser</a:t>
            </a:r>
            <a:endParaRPr lang="en-US" sz="3400" dirty="0"/>
          </a:p>
        </p:txBody>
      </p:sp>
      <p:sp>
        <p:nvSpPr>
          <p:cNvPr id="5" name="Text 2"/>
          <p:cNvSpPr/>
          <p:nvPr/>
        </p:nvSpPr>
        <p:spPr>
          <a:xfrm>
            <a:off x="566928" y="1783080"/>
            <a:ext cx="5486400" cy="2194560"/>
          </a:xfrm>
          <a:prstGeom prst="rect">
            <a:avLst/>
          </a:prstGeom>
          <a:noFill/>
          <a:ln/>
        </p:spPr>
        <p:txBody>
          <a:bodyPr wrap="square" lIns="0" tIns="0" rIns="0" bIns="0" rtlCol="0" anchor="t"/>
          <a:lstStyle/>
          <a:p>
            <a:pPr algn="l" indent="0" marL="0">
              <a:lnSpc>
                <a:spcPts val="2700"/>
              </a:lnSpc>
              <a:buNone/>
            </a:pPr>
            <a:r>
              <a:rPr lang="en-US" sz="1700" dirty="0">
                <a:solidFill>
                  <a:srgbClr val="EDF1F8"/>
                </a:solidFill>
                <a:latin typeface="Calibri" pitchFamily="34" charset="0"/>
                <a:ea typeface="Calibri" pitchFamily="34" charset="-122"/>
                <a:cs typeface="Calibri" pitchFamily="34" charset="-120"/>
              </a:rPr>
              <a:t>Recording a demo is a solved problem. So is clicking through one yourself. The engineering that matters here is what happens when the customer interrupts — because that is the entire difference between a demo and a screen recording.</a:t>
            </a:r>
            <a:endParaRPr lang="en-US" sz="1700" dirty="0"/>
          </a:p>
        </p:txBody>
      </p:sp>
      <p:sp>
        <p:nvSpPr>
          <p:cNvPr id="6" name="Text 3"/>
          <p:cNvSpPr/>
          <p:nvPr/>
        </p:nvSpPr>
        <p:spPr>
          <a:xfrm>
            <a:off x="566928" y="3977640"/>
            <a:ext cx="5120640" cy="274320"/>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A recording</a:t>
            </a:r>
            <a:endParaRPr lang="en-US" sz="1400" dirty="0"/>
          </a:p>
        </p:txBody>
      </p:sp>
      <p:sp>
        <p:nvSpPr>
          <p:cNvPr id="7" name="Text 4"/>
          <p:cNvSpPr/>
          <p:nvPr/>
        </p:nvSpPr>
        <p:spPr>
          <a:xfrm>
            <a:off x="566928" y="4251960"/>
            <a:ext cx="5212080" cy="457200"/>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Can't answer anything. The moment someone asks, you're pausing a video and talking over it.</a:t>
            </a:r>
            <a:endParaRPr lang="en-US" sz="1250" dirty="0"/>
          </a:p>
        </p:txBody>
      </p:sp>
      <p:sp>
        <p:nvSpPr>
          <p:cNvPr id="8" name="Text 5"/>
          <p:cNvSpPr/>
          <p:nvPr/>
        </p:nvSpPr>
        <p:spPr>
          <a:xfrm>
            <a:off x="566928" y="4818888"/>
            <a:ext cx="5120640" cy="274320"/>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A scripted click-through</a:t>
            </a:r>
            <a:endParaRPr lang="en-US" sz="1400" dirty="0"/>
          </a:p>
        </p:txBody>
      </p:sp>
      <p:sp>
        <p:nvSpPr>
          <p:cNvPr id="9" name="Text 6"/>
          <p:cNvSpPr/>
          <p:nvPr/>
        </p:nvSpPr>
        <p:spPr>
          <a:xfrm>
            <a:off x="566928" y="5093208"/>
            <a:ext cx="5212080" cy="457200"/>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Answers, then loses its place — replays a step, or skips one nobody saw.</a:t>
            </a:r>
            <a:endParaRPr lang="en-US" sz="1250" dirty="0"/>
          </a:p>
        </p:txBody>
      </p:sp>
      <p:sp>
        <p:nvSpPr>
          <p:cNvPr id="10" name="Text 7"/>
          <p:cNvSpPr/>
          <p:nvPr/>
        </p:nvSpPr>
        <p:spPr>
          <a:xfrm>
            <a:off x="566928" y="5660136"/>
            <a:ext cx="5120640" cy="274320"/>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A generic browser agent</a:t>
            </a:r>
            <a:endParaRPr lang="en-US" sz="1400" dirty="0"/>
          </a:p>
        </p:txBody>
      </p:sp>
      <p:sp>
        <p:nvSpPr>
          <p:cNvPr id="11" name="Text 8"/>
          <p:cNvSpPr/>
          <p:nvPr/>
        </p:nvSpPr>
        <p:spPr>
          <a:xfrm>
            <a:off x="566928" y="5934456"/>
            <a:ext cx="5212080" cy="457200"/>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Wanders. It has no plan, so there is nothing to return to.</a:t>
            </a:r>
            <a:endParaRPr lang="en-US" sz="1250" dirty="0"/>
          </a:p>
        </p:txBody>
      </p:sp>
      <p:sp>
        <p:nvSpPr>
          <p:cNvPr id="12" name="Shape 9"/>
          <p:cNvSpPr/>
          <p:nvPr/>
        </p:nvSpPr>
        <p:spPr>
          <a:xfrm>
            <a:off x="6492240" y="1737360"/>
            <a:ext cx="5138928" cy="4160520"/>
          </a:xfrm>
          <a:prstGeom prst="roundRect">
            <a:avLst>
              <a:gd name="adj" fmla="val 1758"/>
            </a:avLst>
          </a:prstGeom>
          <a:solidFill>
            <a:srgbClr val="1A202C"/>
          </a:solidFill>
          <a:ln w="6350">
            <a:solidFill>
              <a:srgbClr val="1A202C"/>
            </a:solidFill>
            <a:prstDash val="solid"/>
          </a:ln>
        </p:spPr>
      </p:sp>
      <p:sp>
        <p:nvSpPr>
          <p:cNvPr id="13" name="Text 10"/>
          <p:cNvSpPr/>
          <p:nvPr/>
        </p:nvSpPr>
        <p:spPr>
          <a:xfrm>
            <a:off x="6858000" y="2011680"/>
            <a:ext cx="438912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THE HARD PART</a:t>
            </a:r>
            <a:endParaRPr lang="en-US" sz="1100" dirty="0"/>
          </a:p>
        </p:txBody>
      </p:sp>
      <p:sp>
        <p:nvSpPr>
          <p:cNvPr id="14" name="Text 11"/>
          <p:cNvSpPr/>
          <p:nvPr/>
        </p:nvSpPr>
        <p:spPr>
          <a:xfrm>
            <a:off x="6858000" y="2331720"/>
            <a:ext cx="4480560" cy="685800"/>
          </a:xfrm>
          <a:prstGeom prst="rect">
            <a:avLst/>
          </a:prstGeom>
          <a:noFill/>
          <a:ln/>
        </p:spPr>
        <p:txBody>
          <a:bodyPr wrap="square" lIns="0" tIns="0" rIns="0" bIns="0" rtlCol="0" anchor="ctr"/>
          <a:lstStyle/>
          <a:p>
            <a:pPr indent="0" marL="0">
              <a:lnSpc>
                <a:spcPts val="2800"/>
              </a:lnSpc>
              <a:buNone/>
            </a:pPr>
            <a:r>
              <a:rPr lang="en-US" sz="2200" b="1" dirty="0">
                <a:solidFill>
                  <a:srgbClr val="EDF1F8"/>
                </a:solidFill>
                <a:latin typeface="Cambria" pitchFamily="34" charset="0"/>
                <a:ea typeface="Cambria" pitchFamily="34" charset="-122"/>
                <a:cs typeface="Cambria" pitchFamily="34" charset="-120"/>
              </a:rPr>
              <a:t>Freeze. Answer. Resume — in the same step.</a:t>
            </a:r>
            <a:endParaRPr lang="en-US" sz="2200" dirty="0"/>
          </a:p>
        </p:txBody>
      </p:sp>
      <p:sp>
        <p:nvSpPr>
          <p:cNvPr id="15" name="Shape 12"/>
          <p:cNvSpPr/>
          <p:nvPr/>
        </p:nvSpPr>
        <p:spPr>
          <a:xfrm>
            <a:off x="6858000" y="3200400"/>
            <a:ext cx="365760" cy="365760"/>
          </a:xfrm>
          <a:prstGeom prst="ellipse">
            <a:avLst/>
          </a:prstGeom>
          <a:solidFill>
            <a:srgbClr val="FF5C00"/>
          </a:solidFill>
          <a:ln w="6350">
            <a:solidFill>
              <a:srgbClr val="FF5C00"/>
            </a:solidFill>
            <a:prstDash val="solid"/>
          </a:ln>
        </p:spPr>
      </p:sp>
      <p:sp>
        <p:nvSpPr>
          <p:cNvPr id="16" name="Text 13"/>
          <p:cNvSpPr/>
          <p:nvPr/>
        </p:nvSpPr>
        <p:spPr>
          <a:xfrm>
            <a:off x="6858000" y="3200400"/>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1</a:t>
            </a:r>
            <a:endParaRPr lang="en-US" sz="1400" dirty="0"/>
          </a:p>
        </p:txBody>
      </p:sp>
      <p:sp>
        <p:nvSpPr>
          <p:cNvPr id="17" name="Text 14"/>
          <p:cNvSpPr/>
          <p:nvPr/>
        </p:nvSpPr>
        <p:spPr>
          <a:xfrm>
            <a:off x="7370064" y="3172968"/>
            <a:ext cx="3840480" cy="256032"/>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Freeze</a:t>
            </a:r>
            <a:endParaRPr lang="en-US" sz="1400" dirty="0"/>
          </a:p>
        </p:txBody>
      </p:sp>
      <p:sp>
        <p:nvSpPr>
          <p:cNvPr id="18" name="Text 15"/>
          <p:cNvSpPr/>
          <p:nvPr/>
        </p:nvSpPr>
        <p:spPr>
          <a:xfrm>
            <a:off x="7370064" y="3429000"/>
            <a:ext cx="3931920" cy="54864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The loop parks on an asyncio.Event, checked between actions — not just between steps.</a:t>
            </a:r>
            <a:endParaRPr lang="en-US" sz="1200" dirty="0"/>
          </a:p>
        </p:txBody>
      </p:sp>
      <p:sp>
        <p:nvSpPr>
          <p:cNvPr id="19" name="Shape 16"/>
          <p:cNvSpPr/>
          <p:nvPr/>
        </p:nvSpPr>
        <p:spPr>
          <a:xfrm>
            <a:off x="6858000" y="4096512"/>
            <a:ext cx="365760" cy="365760"/>
          </a:xfrm>
          <a:prstGeom prst="ellipse">
            <a:avLst/>
          </a:prstGeom>
          <a:solidFill>
            <a:srgbClr val="FF5C00"/>
          </a:solidFill>
          <a:ln w="6350">
            <a:solidFill>
              <a:srgbClr val="FF5C00"/>
            </a:solidFill>
            <a:prstDash val="solid"/>
          </a:ln>
        </p:spPr>
      </p:sp>
      <p:sp>
        <p:nvSpPr>
          <p:cNvPr id="20" name="Text 17"/>
          <p:cNvSpPr/>
          <p:nvPr/>
        </p:nvSpPr>
        <p:spPr>
          <a:xfrm>
            <a:off x="6858000" y="4096512"/>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2</a:t>
            </a:r>
            <a:endParaRPr lang="en-US" sz="1400" dirty="0"/>
          </a:p>
        </p:txBody>
      </p:sp>
      <p:sp>
        <p:nvSpPr>
          <p:cNvPr id="21" name="Text 18"/>
          <p:cNvSpPr/>
          <p:nvPr/>
        </p:nvSpPr>
        <p:spPr>
          <a:xfrm>
            <a:off x="7370064" y="4069080"/>
            <a:ext cx="3840480" cy="256032"/>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Answer</a:t>
            </a:r>
            <a:endParaRPr lang="en-US" sz="1400" dirty="0"/>
          </a:p>
        </p:txBody>
      </p:sp>
      <p:sp>
        <p:nvSpPr>
          <p:cNvPr id="22" name="Text 19"/>
          <p:cNvSpPr/>
          <p:nvPr/>
        </p:nvSpPr>
        <p:spPr>
          <a:xfrm>
            <a:off x="7370064" y="4325112"/>
            <a:ext cx="3931920" cy="54864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Claude gets the product doc as cached context plus the current screenshot.</a:t>
            </a:r>
            <a:endParaRPr lang="en-US" sz="1200" dirty="0"/>
          </a:p>
        </p:txBody>
      </p:sp>
      <p:sp>
        <p:nvSpPr>
          <p:cNvPr id="23" name="Shape 20"/>
          <p:cNvSpPr/>
          <p:nvPr/>
        </p:nvSpPr>
        <p:spPr>
          <a:xfrm>
            <a:off x="6858000" y="4992624"/>
            <a:ext cx="365760" cy="365760"/>
          </a:xfrm>
          <a:prstGeom prst="ellipse">
            <a:avLst/>
          </a:prstGeom>
          <a:solidFill>
            <a:srgbClr val="FF5C00"/>
          </a:solidFill>
          <a:ln w="6350">
            <a:solidFill>
              <a:srgbClr val="FF5C00"/>
            </a:solidFill>
            <a:prstDash val="solid"/>
          </a:ln>
        </p:spPr>
      </p:sp>
      <p:sp>
        <p:nvSpPr>
          <p:cNvPr id="24" name="Text 21"/>
          <p:cNvSpPr/>
          <p:nvPr/>
        </p:nvSpPr>
        <p:spPr>
          <a:xfrm>
            <a:off x="6858000" y="4992624"/>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3</a:t>
            </a:r>
            <a:endParaRPr lang="en-US" sz="1400" dirty="0"/>
          </a:p>
        </p:txBody>
      </p:sp>
      <p:sp>
        <p:nvSpPr>
          <p:cNvPr id="25" name="Text 22"/>
          <p:cNvSpPr/>
          <p:nvPr/>
        </p:nvSpPr>
        <p:spPr>
          <a:xfrm>
            <a:off x="7370064" y="4965192"/>
            <a:ext cx="3840480" cy="256032"/>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Resume</a:t>
            </a:r>
            <a:endParaRPr lang="en-US" sz="1400" dirty="0"/>
          </a:p>
        </p:txBody>
      </p:sp>
      <p:sp>
        <p:nvSpPr>
          <p:cNvPr id="26" name="Text 23"/>
          <p:cNvSpPr/>
          <p:nvPr/>
        </p:nvSpPr>
        <p:spPr>
          <a:xfrm>
            <a:off x="7370064" y="5221224"/>
            <a:ext cx="3931920" cy="54864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current_index only advances after a step fully completes. Never rewinds, never skips.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HOW IT WORKS</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Attach → pick the tab → read that page → plan</a:t>
            </a:r>
            <a:endParaRPr lang="en-US" sz="3400" dirty="0"/>
          </a:p>
        </p:txBody>
      </p:sp>
      <p:sp>
        <p:nvSpPr>
          <p:cNvPr id="5" name="Shape 2"/>
          <p:cNvSpPr/>
          <p:nvPr/>
        </p:nvSpPr>
        <p:spPr>
          <a:xfrm>
            <a:off x="566928" y="1828800"/>
            <a:ext cx="2560320" cy="2057400"/>
          </a:xfrm>
          <a:prstGeom prst="roundRect">
            <a:avLst>
              <a:gd name="adj" fmla="val 3556"/>
            </a:avLst>
          </a:prstGeom>
          <a:solidFill>
            <a:srgbClr val="1A202C"/>
          </a:solidFill>
          <a:ln w="6350">
            <a:solidFill>
              <a:srgbClr val="1A202C"/>
            </a:solidFill>
            <a:prstDash val="solid"/>
          </a:ln>
        </p:spPr>
      </p:sp>
      <p:sp>
        <p:nvSpPr>
          <p:cNvPr id="6" name="Shape 3"/>
          <p:cNvSpPr/>
          <p:nvPr/>
        </p:nvSpPr>
        <p:spPr>
          <a:xfrm>
            <a:off x="822960" y="2066544"/>
            <a:ext cx="384048" cy="384048"/>
          </a:xfrm>
          <a:prstGeom prst="ellipse">
            <a:avLst/>
          </a:prstGeom>
          <a:solidFill>
            <a:srgbClr val="FF5C00"/>
          </a:solidFill>
          <a:ln w="6350">
            <a:solidFill>
              <a:srgbClr val="FF5C00"/>
            </a:solidFill>
            <a:prstDash val="solid"/>
          </a:ln>
        </p:spPr>
      </p:sp>
      <p:sp>
        <p:nvSpPr>
          <p:cNvPr id="7" name="Text 4"/>
          <p:cNvSpPr/>
          <p:nvPr/>
        </p:nvSpPr>
        <p:spPr>
          <a:xfrm>
            <a:off x="822960" y="2066544"/>
            <a:ext cx="384048" cy="384048"/>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822960" y="2606040"/>
            <a:ext cx="2048256" cy="548640"/>
          </a:xfrm>
          <a:prstGeom prst="rect">
            <a:avLst/>
          </a:prstGeom>
          <a:noFill/>
          <a:ln/>
        </p:spPr>
        <p:txBody>
          <a:bodyPr wrap="square" lIns="0" tIns="0" rIns="0" bIns="0" rtlCol="0" anchor="ctr"/>
          <a:lstStyle/>
          <a:p>
            <a:pPr indent="0" marL="0">
              <a:lnSpc>
                <a:spcPts val="2000"/>
              </a:lnSpc>
              <a:buNone/>
            </a:pPr>
            <a:r>
              <a:rPr lang="en-US" sz="1500" b="1" dirty="0">
                <a:solidFill>
                  <a:srgbClr val="EDF1F8"/>
                </a:solidFill>
                <a:latin typeface="Calibri" pitchFamily="34" charset="0"/>
                <a:ea typeface="Calibri" pitchFamily="34" charset="-122"/>
                <a:cs typeface="Calibri" pitchFamily="34" charset="-120"/>
              </a:rPr>
              <a:t>Upload the doc</a:t>
            </a:r>
            <a:endParaRPr lang="en-US" sz="1500" dirty="0"/>
          </a:p>
        </p:txBody>
      </p:sp>
      <p:sp>
        <p:nvSpPr>
          <p:cNvPr id="9" name="Text 6"/>
          <p:cNvSpPr/>
          <p:nvPr/>
        </p:nvSpPr>
        <p:spPr>
          <a:xfrm>
            <a:off x="822960" y="3127248"/>
            <a:ext cx="2048256"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Markdown, PDF, docx, HTML. Content-addressed, so re-uploading is free.</a:t>
            </a:r>
            <a:endParaRPr lang="en-US" sz="1200" dirty="0"/>
          </a:p>
        </p:txBody>
      </p:sp>
      <p:sp>
        <p:nvSpPr>
          <p:cNvPr id="10" name="Shape 7"/>
          <p:cNvSpPr/>
          <p:nvPr/>
        </p:nvSpPr>
        <p:spPr>
          <a:xfrm>
            <a:off x="3401568" y="1828800"/>
            <a:ext cx="2560320" cy="2057400"/>
          </a:xfrm>
          <a:prstGeom prst="roundRect">
            <a:avLst>
              <a:gd name="adj" fmla="val 3556"/>
            </a:avLst>
          </a:prstGeom>
          <a:solidFill>
            <a:srgbClr val="1A202C"/>
          </a:solidFill>
          <a:ln w="6350">
            <a:solidFill>
              <a:srgbClr val="1A202C"/>
            </a:solidFill>
            <a:prstDash val="solid"/>
          </a:ln>
        </p:spPr>
      </p:sp>
      <p:sp>
        <p:nvSpPr>
          <p:cNvPr id="11" name="Shape 8"/>
          <p:cNvSpPr/>
          <p:nvPr/>
        </p:nvSpPr>
        <p:spPr>
          <a:xfrm>
            <a:off x="3657600" y="2066544"/>
            <a:ext cx="384048" cy="384048"/>
          </a:xfrm>
          <a:prstGeom prst="ellipse">
            <a:avLst/>
          </a:prstGeom>
          <a:solidFill>
            <a:srgbClr val="FF5C00"/>
          </a:solidFill>
          <a:ln w="6350">
            <a:solidFill>
              <a:srgbClr val="FF5C00"/>
            </a:solidFill>
            <a:prstDash val="solid"/>
          </a:ln>
        </p:spPr>
      </p:sp>
      <p:sp>
        <p:nvSpPr>
          <p:cNvPr id="12" name="Text 9"/>
          <p:cNvSpPr/>
          <p:nvPr/>
        </p:nvSpPr>
        <p:spPr>
          <a:xfrm>
            <a:off x="3657600" y="2066544"/>
            <a:ext cx="384048" cy="384048"/>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3657600" y="2606040"/>
            <a:ext cx="2048256" cy="548640"/>
          </a:xfrm>
          <a:prstGeom prst="rect">
            <a:avLst/>
          </a:prstGeom>
          <a:noFill/>
          <a:ln/>
        </p:spPr>
        <p:txBody>
          <a:bodyPr wrap="square" lIns="0" tIns="0" rIns="0" bIns="0" rtlCol="0" anchor="ctr"/>
          <a:lstStyle/>
          <a:p>
            <a:pPr indent="0" marL="0">
              <a:lnSpc>
                <a:spcPts val="2000"/>
              </a:lnSpc>
              <a:buNone/>
            </a:pPr>
            <a:r>
              <a:rPr lang="en-US" sz="1500" b="1" dirty="0">
                <a:solidFill>
                  <a:srgbClr val="EDF1F8"/>
                </a:solidFill>
                <a:latin typeface="Calibri" pitchFamily="34" charset="0"/>
                <a:ea typeface="Calibri" pitchFamily="34" charset="-122"/>
                <a:cs typeface="Calibri" pitchFamily="34" charset="-120"/>
              </a:rPr>
              <a:t>Say what to demo</a:t>
            </a:r>
            <a:endParaRPr lang="en-US" sz="1500" dirty="0"/>
          </a:p>
        </p:txBody>
      </p:sp>
      <p:sp>
        <p:nvSpPr>
          <p:cNvPr id="14" name="Text 11"/>
          <p:cNvSpPr/>
          <p:nvPr/>
        </p:nvSpPr>
        <p:spPr>
          <a:xfrm>
            <a:off x="3657600" y="3127248"/>
            <a:ext cx="2048256"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Plain English: “how a viewer saves a video for later.”</a:t>
            </a:r>
            <a:endParaRPr lang="en-US" sz="1200" dirty="0"/>
          </a:p>
        </p:txBody>
      </p:sp>
      <p:sp>
        <p:nvSpPr>
          <p:cNvPr id="15" name="Shape 12"/>
          <p:cNvSpPr/>
          <p:nvPr/>
        </p:nvSpPr>
        <p:spPr>
          <a:xfrm>
            <a:off x="6236208" y="1828800"/>
            <a:ext cx="2560320" cy="2057400"/>
          </a:xfrm>
          <a:prstGeom prst="roundRect">
            <a:avLst>
              <a:gd name="adj" fmla="val 3556"/>
            </a:avLst>
          </a:prstGeom>
          <a:solidFill>
            <a:srgbClr val="1A202C"/>
          </a:solidFill>
          <a:ln w="6350">
            <a:solidFill>
              <a:srgbClr val="1A202C"/>
            </a:solidFill>
            <a:prstDash val="solid"/>
          </a:ln>
        </p:spPr>
      </p:sp>
      <p:sp>
        <p:nvSpPr>
          <p:cNvPr id="16" name="Shape 13"/>
          <p:cNvSpPr/>
          <p:nvPr/>
        </p:nvSpPr>
        <p:spPr>
          <a:xfrm>
            <a:off x="6492240" y="2066544"/>
            <a:ext cx="384048" cy="384048"/>
          </a:xfrm>
          <a:prstGeom prst="ellipse">
            <a:avLst/>
          </a:prstGeom>
          <a:solidFill>
            <a:srgbClr val="FF5C00"/>
          </a:solidFill>
          <a:ln w="6350">
            <a:solidFill>
              <a:srgbClr val="FF5C00"/>
            </a:solidFill>
            <a:prstDash val="solid"/>
          </a:ln>
        </p:spPr>
      </p:sp>
      <p:sp>
        <p:nvSpPr>
          <p:cNvPr id="17" name="Text 14"/>
          <p:cNvSpPr/>
          <p:nvPr/>
        </p:nvSpPr>
        <p:spPr>
          <a:xfrm>
            <a:off x="6492240" y="2066544"/>
            <a:ext cx="384048" cy="384048"/>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6492240" y="2606040"/>
            <a:ext cx="2048256" cy="548640"/>
          </a:xfrm>
          <a:prstGeom prst="rect">
            <a:avLst/>
          </a:prstGeom>
          <a:noFill/>
          <a:ln/>
        </p:spPr>
        <p:txBody>
          <a:bodyPr wrap="square" lIns="0" tIns="0" rIns="0" bIns="0" rtlCol="0" anchor="ctr"/>
          <a:lstStyle/>
          <a:p>
            <a:pPr indent="0" marL="0">
              <a:lnSpc>
                <a:spcPts val="2000"/>
              </a:lnSpc>
              <a:buNone/>
            </a:pPr>
            <a:r>
              <a:rPr lang="en-US" sz="1500" b="1" dirty="0">
                <a:solidFill>
                  <a:srgbClr val="EDF1F8"/>
                </a:solidFill>
                <a:latin typeface="Calibri" pitchFamily="34" charset="0"/>
                <a:ea typeface="Calibri" pitchFamily="34" charset="-122"/>
                <a:cs typeface="Calibri" pitchFamily="34" charset="-120"/>
              </a:rPr>
              <a:t>Attach &amp; pick the tab</a:t>
            </a:r>
            <a:endParaRPr lang="en-US" sz="1500" dirty="0"/>
          </a:p>
        </p:txBody>
      </p:sp>
      <p:sp>
        <p:nvSpPr>
          <p:cNvPr id="19" name="Text 16"/>
          <p:cNvSpPr/>
          <p:nvPr/>
        </p:nvSpPr>
        <p:spPr>
          <a:xfrm>
            <a:off x="6492240" y="3127248"/>
            <a:ext cx="2048256"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CDP into your running Chrome. Names a tab, or refuses to guess.</a:t>
            </a:r>
            <a:endParaRPr lang="en-US" sz="1200" dirty="0"/>
          </a:p>
        </p:txBody>
      </p:sp>
      <p:sp>
        <p:nvSpPr>
          <p:cNvPr id="20" name="Shape 17"/>
          <p:cNvSpPr/>
          <p:nvPr/>
        </p:nvSpPr>
        <p:spPr>
          <a:xfrm>
            <a:off x="9070848" y="1828800"/>
            <a:ext cx="2560320" cy="2057400"/>
          </a:xfrm>
          <a:prstGeom prst="roundRect">
            <a:avLst>
              <a:gd name="adj" fmla="val 3556"/>
            </a:avLst>
          </a:prstGeom>
          <a:solidFill>
            <a:srgbClr val="1A202C"/>
          </a:solidFill>
          <a:ln w="6350">
            <a:solidFill>
              <a:srgbClr val="1A202C"/>
            </a:solidFill>
            <a:prstDash val="solid"/>
          </a:ln>
        </p:spPr>
      </p:sp>
      <p:sp>
        <p:nvSpPr>
          <p:cNvPr id="21" name="Shape 18"/>
          <p:cNvSpPr/>
          <p:nvPr/>
        </p:nvSpPr>
        <p:spPr>
          <a:xfrm>
            <a:off x="9326880" y="2066544"/>
            <a:ext cx="384048" cy="384048"/>
          </a:xfrm>
          <a:prstGeom prst="ellipse">
            <a:avLst/>
          </a:prstGeom>
          <a:solidFill>
            <a:srgbClr val="FF5C00"/>
          </a:solidFill>
          <a:ln w="6350">
            <a:solidFill>
              <a:srgbClr val="FF5C00"/>
            </a:solidFill>
            <a:prstDash val="solid"/>
          </a:ln>
        </p:spPr>
      </p:sp>
      <p:sp>
        <p:nvSpPr>
          <p:cNvPr id="22" name="Text 19"/>
          <p:cNvSpPr/>
          <p:nvPr/>
        </p:nvSpPr>
        <p:spPr>
          <a:xfrm>
            <a:off x="9326880" y="2066544"/>
            <a:ext cx="384048" cy="384048"/>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9326880" y="2606040"/>
            <a:ext cx="2048256" cy="548640"/>
          </a:xfrm>
          <a:prstGeom prst="rect">
            <a:avLst/>
          </a:prstGeom>
          <a:noFill/>
          <a:ln/>
        </p:spPr>
        <p:txBody>
          <a:bodyPr wrap="square" lIns="0" tIns="0" rIns="0" bIns="0" rtlCol="0" anchor="ctr"/>
          <a:lstStyle/>
          <a:p>
            <a:pPr indent="0" marL="0">
              <a:lnSpc>
                <a:spcPts val="2000"/>
              </a:lnSpc>
              <a:buNone/>
            </a:pPr>
            <a:r>
              <a:rPr lang="en-US" sz="1500" b="1" dirty="0">
                <a:solidFill>
                  <a:srgbClr val="EDF1F8"/>
                </a:solidFill>
                <a:latin typeface="Calibri" pitchFamily="34" charset="0"/>
                <a:ea typeface="Calibri" pitchFamily="34" charset="-122"/>
                <a:cs typeface="Calibri" pitchFamily="34" charset="-120"/>
              </a:rPr>
              <a:t>Read, then plan</a:t>
            </a:r>
            <a:endParaRPr lang="en-US" sz="1500" dirty="0"/>
          </a:p>
        </p:txBody>
      </p:sp>
      <p:sp>
        <p:nvSpPr>
          <p:cNvPr id="24" name="Text 21"/>
          <p:cNvSpPr/>
          <p:nvPr/>
        </p:nvSpPr>
        <p:spPr>
          <a:xfrm>
            <a:off x="9326880" y="3127248"/>
            <a:ext cx="2048256"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An a11y outline of the live page becomes the planner's vocabulary.</a:t>
            </a:r>
            <a:endParaRPr lang="en-US" sz="1200" dirty="0"/>
          </a:p>
        </p:txBody>
      </p:sp>
      <p:sp>
        <p:nvSpPr>
          <p:cNvPr id="25" name="Shape 22"/>
          <p:cNvSpPr/>
          <p:nvPr/>
        </p:nvSpPr>
        <p:spPr>
          <a:xfrm>
            <a:off x="566928" y="4160520"/>
            <a:ext cx="11064240" cy="1783080"/>
          </a:xfrm>
          <a:prstGeom prst="roundRect">
            <a:avLst>
              <a:gd name="adj" fmla="val 4103"/>
            </a:avLst>
          </a:prstGeom>
          <a:solidFill>
            <a:srgbClr val="232B3A"/>
          </a:solidFill>
          <a:ln w="6350">
            <a:solidFill>
              <a:srgbClr val="232B3A"/>
            </a:solidFill>
            <a:prstDash val="solid"/>
          </a:ln>
        </p:spPr>
      </p:sp>
      <p:sp>
        <p:nvSpPr>
          <p:cNvPr id="26" name="Text 23"/>
          <p:cNvSpPr/>
          <p:nvPr/>
        </p:nvSpPr>
        <p:spPr>
          <a:xfrm>
            <a:off x="886968" y="4389120"/>
            <a:ext cx="3108960" cy="320040"/>
          </a:xfrm>
          <a:prstGeom prst="rect">
            <a:avLst/>
          </a:prstGeom>
          <a:noFill/>
          <a:ln/>
        </p:spPr>
        <p:txBody>
          <a:bodyPr wrap="square" lIns="0" tIns="0" rIns="0" bIns="0" rtlCol="0" anchor="ctr"/>
          <a:lstStyle/>
          <a:p>
            <a:pPr indent="0" marL="0">
              <a:buNone/>
            </a:pPr>
            <a:r>
              <a:rPr lang="en-US" sz="1500" b="1" dirty="0">
                <a:solidFill>
                  <a:srgbClr val="FF5C00"/>
                </a:solidFill>
                <a:latin typeface="Calibri" pitchFamily="34" charset="0"/>
                <a:ea typeface="Calibri" pitchFamily="34" charset="-122"/>
                <a:cs typeface="Calibri" pitchFamily="34" charset="-120"/>
              </a:rPr>
              <a:t>Why that order?</a:t>
            </a:r>
            <a:endParaRPr lang="en-US" sz="1500" dirty="0"/>
          </a:p>
        </p:txBody>
      </p:sp>
      <p:sp>
        <p:nvSpPr>
          <p:cNvPr id="27" name="Text 24"/>
          <p:cNvSpPr/>
          <p:nvPr/>
        </p:nvSpPr>
        <p:spPr>
          <a:xfrm>
            <a:off x="886968" y="4754880"/>
            <a:ext cx="10424160" cy="1005840"/>
          </a:xfrm>
          <a:prstGeom prst="rect">
            <a:avLst/>
          </a:prstGeom>
          <a:noFill/>
          <a:ln/>
        </p:spPr>
        <p:txBody>
          <a:bodyPr wrap="square" lIns="0" tIns="0" rIns="0" bIns="0" rtlCol="0" anchor="ctr"/>
          <a:lstStyle/>
          <a:p>
            <a:pPr indent="0" marL="0">
              <a:lnSpc>
                <a:spcPts val="2200"/>
              </a:lnSpc>
              <a:buNone/>
            </a:pPr>
            <a:r>
              <a:rPr lang="en-US" sz="1450" dirty="0">
                <a:solidFill>
                  <a:srgbClr val="EDF1F8"/>
                </a:solidFill>
                <a:latin typeface="Calibri" pitchFamily="34" charset="0"/>
                <a:ea typeface="Calibri" pitchFamily="34" charset="-122"/>
                <a:cs typeface="Calibri" pitchFamily="34" charset="-120"/>
              </a:rPr>
              <a:t>Planning happens only after the agent can see the live DOM. Nothing about any site is compiled in — no target URL, no repo, no stored session. The same build demos GitHub, YouTube, or an internal tool; the only difference is the document you upload and the tab you name.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THE DIFFERENTIATOR</a:t>
            </a:r>
            <a:endParaRPr lang="en-US" sz="1100" dirty="0"/>
          </a:p>
        </p:txBody>
      </p:sp>
      <p:sp>
        <p:nvSpPr>
          <p:cNvPr id="4" name="Text 1"/>
          <p:cNvSpPr/>
          <p:nvPr/>
        </p:nvSpPr>
        <p:spPr>
          <a:xfrm>
            <a:off x="566928" y="768096"/>
            <a:ext cx="10607040" cy="1097280"/>
          </a:xfrm>
          <a:prstGeom prst="rect">
            <a:avLst/>
          </a:prstGeom>
          <a:noFill/>
          <a:ln/>
        </p:spPr>
        <p:txBody>
          <a:bodyPr wrap="square" lIns="0" tIns="0" rIns="0" bIns="0" rtlCol="0" anchor="t"/>
          <a:lstStyle/>
          <a:p>
            <a:pPr indent="0" marL="0">
              <a:lnSpc>
                <a:spcPts val="3364"/>
              </a:lnSpc>
              <a:buNone/>
            </a:pPr>
            <a:r>
              <a:rPr lang="en-US" sz="2900" b="1" dirty="0">
                <a:solidFill>
                  <a:srgbClr val="EDF1F8"/>
                </a:solidFill>
                <a:latin typeface="Cambria" pitchFamily="34" charset="0"/>
                <a:ea typeface="Cambria" pitchFamily="34" charset="-122"/>
                <a:cs typeface="Cambria" pitchFamily="34" charset="-120"/>
              </a:rPr>
              <a:t>An interruption redirects the browser,</a:t>
            </a:r>
            <a:endParaRPr lang="en-US" sz="2900" dirty="0"/>
          </a:p>
          <a:p>
            <a:pPr indent="0" marL="0">
              <a:lnSpc>
                <a:spcPts val="3364"/>
              </a:lnSpc>
              <a:buNone/>
            </a:pPr>
            <a:r>
              <a:rPr lang="en-US" sz="2900" b="1" dirty="0">
                <a:solidFill>
                  <a:srgbClr val="EDF1F8"/>
                </a:solidFill>
                <a:latin typeface="Cambria" pitchFamily="34" charset="0"/>
                <a:ea typeface="Cambria" pitchFamily="34" charset="-122"/>
                <a:cs typeface="Cambria" pitchFamily="34" charset="-120"/>
              </a:rPr>
              <a:t>not just the answer</a:t>
            </a:r>
            <a:endParaRPr lang="en-US" sz="2900" dirty="0"/>
          </a:p>
        </p:txBody>
      </p:sp>
      <p:sp>
        <p:nvSpPr>
          <p:cNvPr id="5" name="Shape 2"/>
          <p:cNvSpPr/>
          <p:nvPr/>
        </p:nvSpPr>
        <p:spPr>
          <a:xfrm>
            <a:off x="566928" y="2148840"/>
            <a:ext cx="6537960" cy="2640393"/>
          </a:xfrm>
          <a:prstGeom prst="roundRect">
            <a:avLst>
              <a:gd name="adj" fmla="val 1732"/>
            </a:avLst>
          </a:prstGeom>
          <a:solidFill>
            <a:srgbClr val="0A0D13"/>
          </a:solidFill>
          <a:ln w="12700">
            <a:solidFill>
              <a:srgbClr val="232B3A"/>
            </a:solidFill>
            <a:prstDash val="solid"/>
          </a:ln>
        </p:spPr>
      </p:sp>
      <p:sp>
        <p:nvSpPr>
          <p:cNvPr id="6" name="Text 3"/>
          <p:cNvSpPr/>
          <p:nvPr/>
        </p:nvSpPr>
        <p:spPr>
          <a:xfrm>
            <a:off x="768096" y="2295144"/>
            <a:ext cx="6135624" cy="2347785"/>
          </a:xfrm>
          <a:prstGeom prst="rect">
            <a:avLst/>
          </a:prstGeom>
          <a:noFill/>
          <a:ln/>
        </p:spPr>
        <p:txBody>
          <a:bodyPr wrap="square" lIns="0" tIns="0" rIns="0" bIns="0" rtlCol="0" anchor="t"/>
          <a:lstStyle/>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&gt;&gt;&gt; "show me how to filter the results"</a:t>
            </a:r>
            <a:endParaRPr lang="en-US" sz="1150" dirty="0"/>
          </a:p>
          <a:p>
            <a:pPr indent="0" marL="0">
              <a:lnSpc>
                <a:spcPts val="1668"/>
              </a:lnSpc>
              <a:buNone/>
            </a:pP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33.0s [answer]  see the row of chips under</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the search box...</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33.0s [status]  Re-planning around:</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filtering with the chips</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65.5s [step]    clicked 'Jet engines'</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-&gt; results reshape</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88.4s [step]    typed a query, Enter,</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                 results landed</a:t>
            </a:r>
            <a:endParaRPr lang="en-US" sz="1150" dirty="0"/>
          </a:p>
          <a:p>
            <a:pPr indent="0" marL="0">
              <a:lnSpc>
                <a:spcPts val="1668"/>
              </a:lnSpc>
              <a:buNone/>
            </a:pPr>
            <a:r>
              <a:rPr lang="en-US" sz="1150" dirty="0">
                <a:solidFill>
                  <a:srgbClr val="B9C4D6"/>
                </a:solidFill>
                <a:latin typeface="Courier New" pitchFamily="34" charset="0"/>
                <a:ea typeface="Courier New" pitchFamily="34" charset="-122"/>
                <a:cs typeface="Courier New" pitchFamily="34" charset="-120"/>
              </a:rPr>
              <a:t>156.6s [complete]   steps: [1,2,3] errors: []</a:t>
            </a:r>
            <a:endParaRPr lang="en-US" sz="1150" dirty="0"/>
          </a:p>
        </p:txBody>
      </p:sp>
      <p:sp>
        <p:nvSpPr>
          <p:cNvPr id="7" name="Text 4"/>
          <p:cNvSpPr/>
          <p:nvPr/>
        </p:nvSpPr>
        <p:spPr>
          <a:xfrm>
            <a:off x="566928" y="5532120"/>
            <a:ext cx="6583680" cy="274320"/>
          </a:xfrm>
          <a:prstGeom prst="rect">
            <a:avLst/>
          </a:prstGeom>
          <a:noFill/>
          <a:ln/>
        </p:spPr>
        <p:txBody>
          <a:bodyPr wrap="square" lIns="0" tIns="0" rIns="0" bIns="0" rtlCol="0" anchor="ctr"/>
          <a:lstStyle/>
          <a:p>
            <a:pPr indent="0" marL="0">
              <a:buNone/>
            </a:pPr>
            <a:r>
              <a:rPr lang="en-US" sz="1200" i="1" dirty="0">
                <a:solidFill>
                  <a:srgbClr val="8E99AE"/>
                </a:solidFill>
                <a:latin typeface="Calibri" pitchFamily="34" charset="0"/>
                <a:ea typeface="Calibri" pitchFamily="34" charset="-122"/>
                <a:cs typeface="Calibri" pitchFamily="34" charset="-120"/>
              </a:rPr>
              <a:t>Completed steps are preserved verbatim and never replayed.</a:t>
            </a:r>
            <a:endParaRPr lang="en-US" sz="1200" dirty="0"/>
          </a:p>
        </p:txBody>
      </p:sp>
      <p:sp>
        <p:nvSpPr>
          <p:cNvPr id="8" name="Shape 5"/>
          <p:cNvSpPr/>
          <p:nvPr/>
        </p:nvSpPr>
        <p:spPr>
          <a:xfrm>
            <a:off x="7406640" y="2148840"/>
            <a:ext cx="4224528" cy="1115568"/>
          </a:xfrm>
          <a:prstGeom prst="roundRect">
            <a:avLst>
              <a:gd name="adj" fmla="val 6557"/>
            </a:avLst>
          </a:prstGeom>
          <a:solidFill>
            <a:srgbClr val="1A202C"/>
          </a:solidFill>
          <a:ln w="6350">
            <a:solidFill>
              <a:srgbClr val="1A202C"/>
            </a:solidFill>
            <a:prstDash val="solid"/>
          </a:ln>
        </p:spPr>
      </p:sp>
      <p:sp>
        <p:nvSpPr>
          <p:cNvPr id="9" name="Text 6"/>
          <p:cNvSpPr/>
          <p:nvPr/>
        </p:nvSpPr>
        <p:spPr>
          <a:xfrm>
            <a:off x="7680960" y="2295144"/>
            <a:ext cx="3749040" cy="274320"/>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One call, two jobs</a:t>
            </a:r>
            <a:endParaRPr lang="en-US" sz="1400" dirty="0"/>
          </a:p>
        </p:txBody>
      </p:sp>
      <p:sp>
        <p:nvSpPr>
          <p:cNvPr id="10" name="Text 7"/>
          <p:cNvSpPr/>
          <p:nvPr/>
        </p:nvSpPr>
        <p:spPr>
          <a:xfrm>
            <a:off x="7680960" y="2587752"/>
            <a:ext cx="3703320" cy="594360"/>
          </a:xfrm>
          <a:prstGeom prst="rect">
            <a:avLst/>
          </a:prstGeom>
          <a:noFill/>
          <a:ln/>
        </p:spPr>
        <p:txBody>
          <a:bodyPr wrap="square" lIns="0" tIns="0" rIns="0" bIns="0" rtlCol="0" anchor="ctr"/>
          <a:lstStyle/>
          <a:p>
            <a:pPr indent="0" marL="0">
              <a:lnSpc>
                <a:spcPts val="1500"/>
              </a:lnSpc>
              <a:buNone/>
            </a:pPr>
            <a:r>
              <a:rPr lang="en-US" sz="1150" dirty="0">
                <a:solidFill>
                  <a:srgbClr val="8E99AE"/>
                </a:solidFill>
                <a:latin typeface="Calibri" pitchFamily="34" charset="0"/>
                <a:ea typeface="Calibri" pitchFamily="34" charset="-122"/>
                <a:cs typeface="Calibri" pitchFamily="34" charset="-120"/>
              </a:rPr>
              <a:t>QAResponse returns the answer, whether the demo was redirected, and what to show — together.</a:t>
            </a:r>
            <a:endParaRPr lang="en-US" sz="1150" dirty="0"/>
          </a:p>
        </p:txBody>
      </p:sp>
      <p:sp>
        <p:nvSpPr>
          <p:cNvPr id="11" name="Shape 8"/>
          <p:cNvSpPr/>
          <p:nvPr/>
        </p:nvSpPr>
        <p:spPr>
          <a:xfrm>
            <a:off x="7406640" y="3383280"/>
            <a:ext cx="4224528" cy="1115568"/>
          </a:xfrm>
          <a:prstGeom prst="roundRect">
            <a:avLst>
              <a:gd name="adj" fmla="val 6557"/>
            </a:avLst>
          </a:prstGeom>
          <a:solidFill>
            <a:srgbClr val="1A202C"/>
          </a:solidFill>
          <a:ln w="6350">
            <a:solidFill>
              <a:srgbClr val="1A202C"/>
            </a:solidFill>
            <a:prstDash val="solid"/>
          </a:ln>
        </p:spPr>
      </p:sp>
      <p:sp>
        <p:nvSpPr>
          <p:cNvPr id="12" name="Text 9"/>
          <p:cNvSpPr/>
          <p:nvPr/>
        </p:nvSpPr>
        <p:spPr>
          <a:xfrm>
            <a:off x="7680960" y="3529584"/>
            <a:ext cx="3749040" cy="274320"/>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“Show me” is an instruction</a:t>
            </a:r>
            <a:endParaRPr lang="en-US" sz="1400" dirty="0"/>
          </a:p>
        </p:txBody>
      </p:sp>
      <p:sp>
        <p:nvSpPr>
          <p:cNvPr id="13" name="Text 10"/>
          <p:cNvSpPr/>
          <p:nvPr/>
        </p:nvSpPr>
        <p:spPr>
          <a:xfrm>
            <a:off x="7680960" y="3822192"/>
            <a:ext cx="3703320" cy="594360"/>
          </a:xfrm>
          <a:prstGeom prst="rect">
            <a:avLst/>
          </a:prstGeom>
          <a:noFill/>
          <a:ln/>
        </p:spPr>
        <p:txBody>
          <a:bodyPr wrap="square" lIns="0" tIns="0" rIns="0" bIns="0" rtlCol="0" anchor="ctr"/>
          <a:lstStyle/>
          <a:p>
            <a:pPr indent="0" marL="0">
              <a:lnSpc>
                <a:spcPts val="1500"/>
              </a:lnSpc>
              <a:buNone/>
            </a:pPr>
            <a:r>
              <a:rPr lang="en-US" sz="1150" dirty="0">
                <a:solidFill>
                  <a:srgbClr val="8E99AE"/>
                </a:solidFill>
                <a:latin typeface="Calibri" pitchFamily="34" charset="0"/>
                <a:ea typeface="Calibri" pitchFamily="34" charset="-122"/>
                <a:cs typeface="Calibri" pitchFamily="34" charset="-120"/>
              </a:rPr>
              <a:t>“How do I X” and “can it do X” are requests to be shown X, not to be told.</a:t>
            </a:r>
            <a:endParaRPr lang="en-US" sz="1150" dirty="0"/>
          </a:p>
        </p:txBody>
      </p:sp>
      <p:sp>
        <p:nvSpPr>
          <p:cNvPr id="14" name="Shape 11"/>
          <p:cNvSpPr/>
          <p:nvPr/>
        </p:nvSpPr>
        <p:spPr>
          <a:xfrm>
            <a:off x="7406640" y="4617720"/>
            <a:ext cx="4224528" cy="1115568"/>
          </a:xfrm>
          <a:prstGeom prst="roundRect">
            <a:avLst>
              <a:gd name="adj" fmla="val 6557"/>
            </a:avLst>
          </a:prstGeom>
          <a:solidFill>
            <a:srgbClr val="1A202C"/>
          </a:solidFill>
          <a:ln w="6350">
            <a:solidFill>
              <a:srgbClr val="1A202C"/>
            </a:solidFill>
            <a:prstDash val="solid"/>
          </a:ln>
        </p:spPr>
      </p:sp>
      <p:sp>
        <p:nvSpPr>
          <p:cNvPr id="15" name="Text 12"/>
          <p:cNvSpPr/>
          <p:nvPr/>
        </p:nvSpPr>
        <p:spPr>
          <a:xfrm>
            <a:off x="7680960" y="4764024"/>
            <a:ext cx="3749040" cy="274320"/>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The bug underneath</a:t>
            </a:r>
            <a:endParaRPr lang="en-US" sz="1400" dirty="0"/>
          </a:p>
        </p:txBody>
      </p:sp>
      <p:sp>
        <p:nvSpPr>
          <p:cNvPr id="16" name="Text 13"/>
          <p:cNvSpPr/>
          <p:nvPr/>
        </p:nvSpPr>
        <p:spPr>
          <a:xfrm>
            <a:off x="7680960" y="5056632"/>
            <a:ext cx="3703320" cy="594360"/>
          </a:xfrm>
          <a:prstGeom prst="rect">
            <a:avLst/>
          </a:prstGeom>
          <a:noFill/>
          <a:ln/>
        </p:spPr>
        <p:txBody>
          <a:bodyPr wrap="square" lIns="0" tIns="0" rIns="0" bIns="0" rtlCol="0" anchor="ctr"/>
          <a:lstStyle/>
          <a:p>
            <a:pPr indent="0" marL="0">
              <a:lnSpc>
                <a:spcPts val="1500"/>
              </a:lnSpc>
              <a:buNone/>
            </a:pPr>
            <a:r>
              <a:rPr lang="en-US" sz="1150" dirty="0">
                <a:solidFill>
                  <a:srgbClr val="8E99AE"/>
                </a:solidFill>
                <a:latin typeface="Calibri" pitchFamily="34" charset="0"/>
                <a:ea typeface="Calibri" pitchFamily="34" charset="-122"/>
                <a:cs typeface="Calibri" pitchFamily="34" charset="-120"/>
              </a:rPr>
              <a:t>The loop cached the step it was running, so a mid-step re-plan was skipped entirely. Fixed, and pinned by a test that fails against the old code.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SITE-AGNOSTIC</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Same build. Two products. Two documents.</a:t>
            </a:r>
            <a:endParaRPr lang="en-US" sz="3400" dirty="0"/>
          </a:p>
        </p:txBody>
      </p:sp>
      <p:sp>
        <p:nvSpPr>
          <p:cNvPr id="5" name="Shape 2"/>
          <p:cNvSpPr/>
          <p:nvPr/>
        </p:nvSpPr>
        <p:spPr>
          <a:xfrm>
            <a:off x="566928" y="1828800"/>
            <a:ext cx="5394960" cy="3703320"/>
          </a:xfrm>
          <a:prstGeom prst="roundRect">
            <a:avLst>
              <a:gd name="adj" fmla="val 1975"/>
            </a:avLst>
          </a:prstGeom>
          <a:solidFill>
            <a:srgbClr val="1A202C"/>
          </a:solidFill>
          <a:ln w="6350">
            <a:solidFill>
              <a:srgbClr val="1A202C"/>
            </a:solidFill>
            <a:prstDash val="solid"/>
          </a:ln>
        </p:spPr>
      </p:sp>
      <p:sp>
        <p:nvSpPr>
          <p:cNvPr id="6" name="Text 3"/>
          <p:cNvSpPr/>
          <p:nvPr/>
        </p:nvSpPr>
        <p:spPr>
          <a:xfrm>
            <a:off x="877824" y="2084832"/>
            <a:ext cx="4937760" cy="292608"/>
          </a:xfrm>
          <a:prstGeom prst="rect">
            <a:avLst/>
          </a:prstGeom>
          <a:noFill/>
          <a:ln/>
        </p:spPr>
        <p:txBody>
          <a:bodyPr wrap="square" lIns="0" tIns="0" rIns="0" bIns="0" rtlCol="0" anchor="ctr"/>
          <a:lstStyle/>
          <a:p>
            <a:pPr indent="0" marL="0">
              <a:buNone/>
            </a:pPr>
            <a:r>
              <a:rPr lang="en-US" sz="1600" b="1" dirty="0">
                <a:solidFill>
                  <a:srgbClr val="EDF1F8"/>
                </a:solidFill>
                <a:latin typeface="Calibri" pitchFamily="34" charset="0"/>
                <a:ea typeface="Calibri" pitchFamily="34" charset="-122"/>
                <a:cs typeface="Calibri" pitchFamily="34" charset="-120"/>
              </a:rPr>
              <a:t>"Watch Later — product flow"</a:t>
            </a:r>
            <a:endParaRPr lang="en-US" sz="1600" dirty="0"/>
          </a:p>
        </p:txBody>
      </p:sp>
      <p:sp>
        <p:nvSpPr>
          <p:cNvPr id="7" name="Text 4"/>
          <p:cNvSpPr/>
          <p:nvPr/>
        </p:nvSpPr>
        <p:spPr>
          <a:xfrm>
            <a:off x="877824" y="2395728"/>
            <a:ext cx="4937760" cy="274320"/>
          </a:xfrm>
          <a:prstGeom prst="rect">
            <a:avLst/>
          </a:prstGeom>
          <a:noFill/>
          <a:ln/>
        </p:spPr>
        <p:txBody>
          <a:bodyPr wrap="square" lIns="0" tIns="0" rIns="0" bIns="0" rtlCol="0" anchor="ctr"/>
          <a:lstStyle/>
          <a:p>
            <a:pPr indent="0" marL="0">
              <a:buNone/>
            </a:pPr>
            <a:r>
              <a:rPr lang="en-US" sz="1200" dirty="0">
                <a:solidFill>
                  <a:srgbClr val="FF5C00"/>
                </a:solidFill>
                <a:latin typeface="Courier New" pitchFamily="34" charset="0"/>
                <a:ea typeface="Courier New" pitchFamily="34" charset="-122"/>
                <a:cs typeface="Courier New" pitchFamily="34" charset="-120"/>
              </a:rPr>
              <a:t>tab: "youtube"</a:t>
            </a:r>
            <a:endParaRPr lang="en-US" sz="1200" dirty="0"/>
          </a:p>
        </p:txBody>
      </p:sp>
      <p:sp>
        <p:nvSpPr>
          <p:cNvPr id="8" name="Shape 5"/>
          <p:cNvSpPr/>
          <p:nvPr/>
        </p:nvSpPr>
        <p:spPr>
          <a:xfrm>
            <a:off x="877824" y="2788920"/>
            <a:ext cx="4773168" cy="1931416"/>
          </a:xfrm>
          <a:prstGeom prst="roundRect">
            <a:avLst>
              <a:gd name="adj" fmla="val 2367"/>
            </a:avLst>
          </a:prstGeom>
          <a:solidFill>
            <a:srgbClr val="0A0D13"/>
          </a:solidFill>
          <a:ln w="12700">
            <a:solidFill>
              <a:srgbClr val="232B3A"/>
            </a:solidFill>
            <a:prstDash val="solid"/>
          </a:ln>
        </p:spPr>
      </p:sp>
      <p:sp>
        <p:nvSpPr>
          <p:cNvPr id="9" name="Text 6"/>
          <p:cNvSpPr/>
          <p:nvPr/>
        </p:nvSpPr>
        <p:spPr>
          <a:xfrm>
            <a:off x="1078992" y="2935224"/>
            <a:ext cx="4370832" cy="1638808"/>
          </a:xfrm>
          <a:prstGeom prst="rect">
            <a:avLst/>
          </a:prstGeom>
          <a:noFill/>
          <a:ln/>
        </p:spPr>
        <p:txBody>
          <a:bodyPr wrap="square" lIns="0" tIns="0" rIns="0" bIns="0" rtlCol="0" anchor="t"/>
          <a:lstStyle/>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6 steps planned from the live page</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6/6 executed, 0 failed actions</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interrupt after step 2 -&gt;</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  pausing -&gt; answered -&gt; resumed at 3</a:t>
            </a:r>
            <a:endParaRPr lang="en-US" sz="1100" dirty="0"/>
          </a:p>
          <a:p>
            <a:pPr indent="0" marL="0">
              <a:lnSpc>
                <a:spcPts val="1595"/>
              </a:lnSpc>
              <a:buNone/>
            </a:pP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asked about cross-device sync:</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not in the doc, so it said so</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and declined to guess</a:t>
            </a:r>
            <a:endParaRPr lang="en-US" sz="1100" dirty="0"/>
          </a:p>
        </p:txBody>
      </p:sp>
      <p:sp>
        <p:nvSpPr>
          <p:cNvPr id="10" name="Shape 7"/>
          <p:cNvSpPr/>
          <p:nvPr/>
        </p:nvSpPr>
        <p:spPr>
          <a:xfrm>
            <a:off x="6236208" y="1828800"/>
            <a:ext cx="5394960" cy="3703320"/>
          </a:xfrm>
          <a:prstGeom prst="roundRect">
            <a:avLst>
              <a:gd name="adj" fmla="val 1975"/>
            </a:avLst>
          </a:prstGeom>
          <a:solidFill>
            <a:srgbClr val="1A202C"/>
          </a:solidFill>
          <a:ln w="6350">
            <a:solidFill>
              <a:srgbClr val="1A202C"/>
            </a:solidFill>
            <a:prstDash val="solid"/>
          </a:ln>
        </p:spPr>
      </p:sp>
      <p:sp>
        <p:nvSpPr>
          <p:cNvPr id="11" name="Text 8"/>
          <p:cNvSpPr/>
          <p:nvPr/>
        </p:nvSpPr>
        <p:spPr>
          <a:xfrm>
            <a:off x="6547104" y="2084832"/>
            <a:ext cx="4937760" cy="292608"/>
          </a:xfrm>
          <a:prstGeom prst="rect">
            <a:avLst/>
          </a:prstGeom>
          <a:noFill/>
          <a:ln/>
        </p:spPr>
        <p:txBody>
          <a:bodyPr wrap="square" lIns="0" tIns="0" rIns="0" bIns="0" rtlCol="0" anchor="ctr"/>
          <a:lstStyle/>
          <a:p>
            <a:pPr indent="0" marL="0">
              <a:buNone/>
            </a:pPr>
            <a:r>
              <a:rPr lang="en-US" sz="1600" b="1" dirty="0">
                <a:solidFill>
                  <a:srgbClr val="EDF1F8"/>
                </a:solidFill>
                <a:latin typeface="Calibri" pitchFamily="34" charset="0"/>
                <a:ea typeface="Calibri" pitchFamily="34" charset="-122"/>
                <a:cs typeface="Calibri" pitchFamily="34" charset="-120"/>
              </a:rPr>
              <a:t>"Explore — product flow"</a:t>
            </a:r>
            <a:endParaRPr lang="en-US" sz="1600" dirty="0"/>
          </a:p>
        </p:txBody>
      </p:sp>
      <p:sp>
        <p:nvSpPr>
          <p:cNvPr id="12" name="Text 9"/>
          <p:cNvSpPr/>
          <p:nvPr/>
        </p:nvSpPr>
        <p:spPr>
          <a:xfrm>
            <a:off x="6547104" y="2395728"/>
            <a:ext cx="4937760" cy="274320"/>
          </a:xfrm>
          <a:prstGeom prst="rect">
            <a:avLst/>
          </a:prstGeom>
          <a:noFill/>
          <a:ln/>
        </p:spPr>
        <p:txBody>
          <a:bodyPr wrap="square" lIns="0" tIns="0" rIns="0" bIns="0" rtlCol="0" anchor="ctr"/>
          <a:lstStyle/>
          <a:p>
            <a:pPr indent="0" marL="0">
              <a:buNone/>
            </a:pPr>
            <a:r>
              <a:rPr lang="en-US" sz="1200" dirty="0">
                <a:solidFill>
                  <a:srgbClr val="FF5C00"/>
                </a:solidFill>
                <a:latin typeface="Courier New" pitchFamily="34" charset="0"/>
                <a:ea typeface="Courier New" pitchFamily="34" charset="-122"/>
                <a:cs typeface="Courier New" pitchFamily="34" charset="-120"/>
              </a:rPr>
              <a:t>tab: "github"</a:t>
            </a:r>
            <a:endParaRPr lang="en-US" sz="1200" dirty="0"/>
          </a:p>
        </p:txBody>
      </p:sp>
      <p:sp>
        <p:nvSpPr>
          <p:cNvPr id="13" name="Shape 10"/>
          <p:cNvSpPr/>
          <p:nvPr/>
        </p:nvSpPr>
        <p:spPr>
          <a:xfrm>
            <a:off x="6547104" y="2788920"/>
            <a:ext cx="4773168" cy="1931416"/>
          </a:xfrm>
          <a:prstGeom prst="roundRect">
            <a:avLst>
              <a:gd name="adj" fmla="val 2367"/>
            </a:avLst>
          </a:prstGeom>
          <a:solidFill>
            <a:srgbClr val="0A0D13"/>
          </a:solidFill>
          <a:ln w="12700">
            <a:solidFill>
              <a:srgbClr val="232B3A"/>
            </a:solidFill>
            <a:prstDash val="solid"/>
          </a:ln>
        </p:spPr>
      </p:sp>
      <p:sp>
        <p:nvSpPr>
          <p:cNvPr id="14" name="Text 11"/>
          <p:cNvSpPr/>
          <p:nvPr/>
        </p:nvSpPr>
        <p:spPr>
          <a:xfrm>
            <a:off x="6748272" y="2935224"/>
            <a:ext cx="4370832" cy="1638808"/>
          </a:xfrm>
          <a:prstGeom prst="rect">
            <a:avLst/>
          </a:prstGeom>
          <a:noFill/>
          <a:ln/>
        </p:spPr>
        <p:txBody>
          <a:bodyPr wrap="square" lIns="0" tIns="0" rIns="0" bIns="0" rtlCol="0" anchor="t"/>
          <a:lstStyle/>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6 steps planned from the live page</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in-scope hop to github.com/trending</a:t>
            </a:r>
            <a:endParaRPr lang="en-US" sz="1100" dirty="0"/>
          </a:p>
          <a:p>
            <a:pPr indent="0" marL="0">
              <a:lnSpc>
                <a:spcPts val="1595"/>
              </a:lnSpc>
              <a:buNone/>
            </a:pP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interrupt: "Can I filter Explore</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  by language?" -&gt; answered</a:t>
            </a: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  from what was on the page</a:t>
            </a:r>
            <a:endParaRPr lang="en-US" sz="1100" dirty="0"/>
          </a:p>
          <a:p>
            <a:pPr indent="0" marL="0">
              <a:lnSpc>
                <a:spcPts val="1595"/>
              </a:lnSpc>
              <a:buNone/>
            </a:pPr>
            <a:endParaRPr lang="en-US" sz="1100" dirty="0"/>
          </a:p>
          <a:p>
            <a:pPr indent="0" marL="0">
              <a:lnSpc>
                <a:spcPts val="1595"/>
              </a:lnSpc>
              <a:buNone/>
            </a:pPr>
            <a:r>
              <a:rPr lang="en-US" sz="1100" dirty="0">
                <a:solidFill>
                  <a:srgbClr val="B9C4D6"/>
                </a:solidFill>
                <a:latin typeface="Courier New" pitchFamily="34" charset="0"/>
                <a:ea typeface="Courier New" pitchFamily="34" charset="-122"/>
                <a:cs typeface="Courier New" pitchFamily="34" charset="-120"/>
              </a:rPr>
              <a:t>173 live frames, 18 stills</a:t>
            </a:r>
            <a:endParaRPr lang="en-US" sz="1100" dirty="0"/>
          </a:p>
        </p:txBody>
      </p:sp>
      <p:sp>
        <p:nvSpPr>
          <p:cNvPr id="15" name="Text 12"/>
          <p:cNvSpPr/>
          <p:nvPr/>
        </p:nvSpPr>
        <p:spPr>
          <a:xfrm>
            <a:off x="566928" y="5760720"/>
            <a:ext cx="11064240" cy="365760"/>
          </a:xfrm>
          <a:prstGeom prst="rect">
            <a:avLst/>
          </a:prstGeom>
          <a:noFill/>
          <a:ln/>
        </p:spPr>
        <p:txBody>
          <a:bodyPr wrap="square" lIns="0" tIns="0" rIns="0" bIns="0" rtlCol="0" anchor="ctr"/>
          <a:lstStyle/>
          <a:p>
            <a:pPr algn="l" indent="0" marL="0">
              <a:buNone/>
            </a:pPr>
            <a:r>
              <a:rPr lang="en-US" sz="1400" dirty="0">
                <a:solidFill>
                  <a:srgbClr val="8E99AE"/>
                </a:solidFill>
                <a:latin typeface="Calibri" pitchFamily="34" charset="0"/>
                <a:ea typeface="Calibri" pitchFamily="34" charset="-122"/>
                <a:cs typeface="Calibri" pitchFamily="34" charset="-120"/>
              </a:rPr>
              <a:t>No target URL. No repo. No stored session. The navigation allowlist is derived at run time from the tab you picked.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ARCHITECTURE</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Six verbs, semantic locators, one pause gate</a:t>
            </a:r>
            <a:endParaRPr lang="en-US" sz="3400" dirty="0"/>
          </a:p>
        </p:txBody>
      </p:sp>
      <p:sp>
        <p:nvSpPr>
          <p:cNvPr id="5" name="Shape 2"/>
          <p:cNvSpPr/>
          <p:nvPr/>
        </p:nvSpPr>
        <p:spPr>
          <a:xfrm>
            <a:off x="566928" y="1874520"/>
            <a:ext cx="2487168" cy="1371600"/>
          </a:xfrm>
          <a:prstGeom prst="roundRect">
            <a:avLst>
              <a:gd name="adj" fmla="val 5333"/>
            </a:avLst>
          </a:prstGeom>
          <a:solidFill>
            <a:srgbClr val="1A202C"/>
          </a:solidFill>
          <a:ln w="6350">
            <a:solidFill>
              <a:srgbClr val="1A202C"/>
            </a:solidFill>
            <a:prstDash val="solid"/>
          </a:ln>
        </p:spPr>
      </p:sp>
      <p:sp>
        <p:nvSpPr>
          <p:cNvPr id="6" name="Text 3"/>
          <p:cNvSpPr/>
          <p:nvPr/>
        </p:nvSpPr>
        <p:spPr>
          <a:xfrm>
            <a:off x="768096" y="2057400"/>
            <a:ext cx="2084832" cy="292608"/>
          </a:xfrm>
          <a:prstGeom prst="rect">
            <a:avLst/>
          </a:prstGeom>
          <a:noFill/>
          <a:ln/>
        </p:spPr>
        <p:txBody>
          <a:bodyPr wrap="square" lIns="0" tIns="0" rIns="0" bIns="0" rtlCol="0" anchor="ctr"/>
          <a:lstStyle/>
          <a:p>
            <a:pPr indent="0" marL="0">
              <a:buNone/>
            </a:pPr>
            <a:r>
              <a:rPr lang="en-US" sz="1500" b="1" dirty="0">
                <a:solidFill>
                  <a:srgbClr val="EDF1F8"/>
                </a:solidFill>
                <a:latin typeface="Calibri" pitchFamily="34" charset="0"/>
                <a:ea typeface="Calibri" pitchFamily="34" charset="-122"/>
                <a:cs typeface="Calibri" pitchFamily="34" charset="-120"/>
              </a:rPr>
              <a:t>Next.js UI</a:t>
            </a:r>
            <a:endParaRPr lang="en-US" sz="1500" dirty="0"/>
          </a:p>
        </p:txBody>
      </p:sp>
      <p:sp>
        <p:nvSpPr>
          <p:cNvPr id="7" name="Text 4"/>
          <p:cNvSpPr/>
          <p:nvPr/>
        </p:nvSpPr>
        <p:spPr>
          <a:xfrm>
            <a:off x="768096" y="2395728"/>
            <a:ext cx="2084832" cy="685800"/>
          </a:xfrm>
          <a:prstGeom prst="rect">
            <a:avLst/>
          </a:prstGeom>
          <a:noFill/>
          <a:ln/>
        </p:spPr>
        <p:txBody>
          <a:bodyPr wrap="square" lIns="0" tIns="0" rIns="0" bIns="0" rtlCol="0" anchor="ctr"/>
          <a:lstStyle/>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narration · live view</a:t>
            </a:r>
            <a:endParaRPr lang="en-US" sz="1150" dirty="0"/>
          </a:p>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step progress</a:t>
            </a:r>
            <a:endParaRPr lang="en-US" sz="1150" dirty="0"/>
          </a:p>
        </p:txBody>
      </p:sp>
      <p:sp>
        <p:nvSpPr>
          <p:cNvPr id="8" name="Text 5"/>
          <p:cNvSpPr/>
          <p:nvPr/>
        </p:nvSpPr>
        <p:spPr>
          <a:xfrm>
            <a:off x="3072384" y="2286000"/>
            <a:ext cx="329184" cy="365760"/>
          </a:xfrm>
          <a:prstGeom prst="rect">
            <a:avLst/>
          </a:prstGeom>
          <a:noFill/>
          <a:ln/>
        </p:spPr>
        <p:txBody>
          <a:bodyPr wrap="square" lIns="0" tIns="0" rIns="0" bIns="0" rtlCol="0" anchor="ctr"/>
          <a:lstStyle/>
          <a:p>
            <a:pPr algn="ctr" indent="0" marL="0">
              <a:buNone/>
            </a:pPr>
            <a:r>
              <a:rPr lang="en-US" sz="2000" b="1" dirty="0">
                <a:solidFill>
                  <a:srgbClr val="FF5C00"/>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3383280" y="1874520"/>
            <a:ext cx="2487168" cy="1371600"/>
          </a:xfrm>
          <a:prstGeom prst="roundRect">
            <a:avLst>
              <a:gd name="adj" fmla="val 5333"/>
            </a:avLst>
          </a:prstGeom>
          <a:solidFill>
            <a:srgbClr val="1A202C"/>
          </a:solidFill>
          <a:ln w="6350">
            <a:solidFill>
              <a:srgbClr val="1A202C"/>
            </a:solidFill>
            <a:prstDash val="solid"/>
          </a:ln>
        </p:spPr>
      </p:sp>
      <p:sp>
        <p:nvSpPr>
          <p:cNvPr id="10" name="Text 7"/>
          <p:cNvSpPr/>
          <p:nvPr/>
        </p:nvSpPr>
        <p:spPr>
          <a:xfrm>
            <a:off x="3584448" y="2057400"/>
            <a:ext cx="2084832" cy="292608"/>
          </a:xfrm>
          <a:prstGeom prst="rect">
            <a:avLst/>
          </a:prstGeom>
          <a:noFill/>
          <a:ln/>
        </p:spPr>
        <p:txBody>
          <a:bodyPr wrap="square" lIns="0" tIns="0" rIns="0" bIns="0" rtlCol="0" anchor="ctr"/>
          <a:lstStyle/>
          <a:p>
            <a:pPr indent="0" marL="0">
              <a:buNone/>
            </a:pPr>
            <a:r>
              <a:rPr lang="en-US" sz="1500" b="1" dirty="0">
                <a:solidFill>
                  <a:srgbClr val="EDF1F8"/>
                </a:solidFill>
                <a:latin typeface="Calibri" pitchFamily="34" charset="0"/>
                <a:ea typeface="Calibri" pitchFamily="34" charset="-122"/>
                <a:cs typeface="Calibri" pitchFamily="34" charset="-120"/>
              </a:rPr>
              <a:t>FastAPI</a:t>
            </a:r>
            <a:endParaRPr lang="en-US" sz="1500" dirty="0"/>
          </a:p>
        </p:txBody>
      </p:sp>
      <p:sp>
        <p:nvSpPr>
          <p:cNvPr id="11" name="Text 8"/>
          <p:cNvSpPr/>
          <p:nvPr/>
        </p:nvSpPr>
        <p:spPr>
          <a:xfrm>
            <a:off x="3584448" y="2395728"/>
            <a:ext cx="2084832" cy="685800"/>
          </a:xfrm>
          <a:prstGeom prst="rect">
            <a:avLst/>
          </a:prstGeom>
          <a:noFill/>
          <a:ln/>
        </p:spPr>
        <p:txBody>
          <a:bodyPr wrap="square" lIns="0" tIns="0" rIns="0" bIns="0" rtlCol="0" anchor="ctr"/>
          <a:lstStyle/>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WebSocket + REST</a:t>
            </a:r>
            <a:endParaRPr lang="en-US" sz="1150" dirty="0"/>
          </a:p>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session state</a:t>
            </a:r>
            <a:endParaRPr lang="en-US" sz="1150" dirty="0"/>
          </a:p>
        </p:txBody>
      </p:sp>
      <p:sp>
        <p:nvSpPr>
          <p:cNvPr id="12" name="Text 9"/>
          <p:cNvSpPr/>
          <p:nvPr/>
        </p:nvSpPr>
        <p:spPr>
          <a:xfrm>
            <a:off x="5888736" y="2286000"/>
            <a:ext cx="329184" cy="365760"/>
          </a:xfrm>
          <a:prstGeom prst="rect">
            <a:avLst/>
          </a:prstGeom>
          <a:noFill/>
          <a:ln/>
        </p:spPr>
        <p:txBody>
          <a:bodyPr wrap="square" lIns="0" tIns="0" rIns="0" bIns="0" rtlCol="0" anchor="ctr"/>
          <a:lstStyle/>
          <a:p>
            <a:pPr algn="ctr" indent="0" marL="0">
              <a:buNone/>
            </a:pPr>
            <a:r>
              <a:rPr lang="en-US" sz="2000" b="1" dirty="0">
                <a:solidFill>
                  <a:srgbClr val="FF5C00"/>
                </a:solidFill>
                <a:latin typeface="Calibri" pitchFamily="34" charset="0"/>
                <a:ea typeface="Calibri" pitchFamily="34" charset="-122"/>
                <a:cs typeface="Calibri" pitchFamily="34" charset="-120"/>
              </a:rPr>
              <a:t>»</a:t>
            </a:r>
            <a:endParaRPr lang="en-US" sz="2000" dirty="0"/>
          </a:p>
        </p:txBody>
      </p:sp>
      <p:sp>
        <p:nvSpPr>
          <p:cNvPr id="13" name="Shape 10"/>
          <p:cNvSpPr/>
          <p:nvPr/>
        </p:nvSpPr>
        <p:spPr>
          <a:xfrm>
            <a:off x="6199632" y="1874520"/>
            <a:ext cx="2487168" cy="1371600"/>
          </a:xfrm>
          <a:prstGeom prst="roundRect">
            <a:avLst>
              <a:gd name="adj" fmla="val 5333"/>
            </a:avLst>
          </a:prstGeom>
          <a:solidFill>
            <a:srgbClr val="3A2010"/>
          </a:solidFill>
          <a:ln w="6350">
            <a:solidFill>
              <a:srgbClr val="3A2010"/>
            </a:solidFill>
            <a:prstDash val="solid"/>
          </a:ln>
        </p:spPr>
      </p:sp>
      <p:sp>
        <p:nvSpPr>
          <p:cNvPr id="14" name="Text 11"/>
          <p:cNvSpPr/>
          <p:nvPr/>
        </p:nvSpPr>
        <p:spPr>
          <a:xfrm>
            <a:off x="6400800" y="2057400"/>
            <a:ext cx="2084832" cy="292608"/>
          </a:xfrm>
          <a:prstGeom prst="rect">
            <a:avLst/>
          </a:prstGeom>
          <a:noFill/>
          <a:ln/>
        </p:spPr>
        <p:txBody>
          <a:bodyPr wrap="square" lIns="0" tIns="0" rIns="0" bIns="0" rtlCol="0" anchor="ctr"/>
          <a:lstStyle/>
          <a:p>
            <a:pPr indent="0" marL="0">
              <a:buNone/>
            </a:pPr>
            <a:r>
              <a:rPr lang="en-US" sz="1500" b="1" dirty="0">
                <a:solidFill>
                  <a:srgbClr val="FF5C00"/>
                </a:solidFill>
                <a:latin typeface="Calibri" pitchFamily="34" charset="0"/>
                <a:ea typeface="Calibri" pitchFamily="34" charset="-122"/>
                <a:cs typeface="Calibri" pitchFamily="34" charset="-120"/>
              </a:rPr>
              <a:t>StepExecutor</a:t>
            </a:r>
            <a:endParaRPr lang="en-US" sz="1500" dirty="0"/>
          </a:p>
        </p:txBody>
      </p:sp>
      <p:sp>
        <p:nvSpPr>
          <p:cNvPr id="15" name="Text 12"/>
          <p:cNvSpPr/>
          <p:nvPr/>
        </p:nvSpPr>
        <p:spPr>
          <a:xfrm>
            <a:off x="6400800" y="2395728"/>
            <a:ext cx="2084832" cy="685800"/>
          </a:xfrm>
          <a:prstGeom prst="rect">
            <a:avLst/>
          </a:prstGeom>
          <a:noFill/>
          <a:ln/>
        </p:spPr>
        <p:txBody>
          <a:bodyPr wrap="square" lIns="0" tIns="0" rIns="0" bIns="0" rtlCol="0" anchor="ctr"/>
          <a:lstStyle/>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asyncio.Event</a:t>
            </a:r>
            <a:endParaRPr lang="en-US" sz="1150" dirty="0"/>
          </a:p>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pause / resume gate</a:t>
            </a:r>
            <a:endParaRPr lang="en-US" sz="1150" dirty="0"/>
          </a:p>
        </p:txBody>
      </p:sp>
      <p:sp>
        <p:nvSpPr>
          <p:cNvPr id="16" name="Text 13"/>
          <p:cNvSpPr/>
          <p:nvPr/>
        </p:nvSpPr>
        <p:spPr>
          <a:xfrm>
            <a:off x="8705088" y="2286000"/>
            <a:ext cx="329184" cy="365760"/>
          </a:xfrm>
          <a:prstGeom prst="rect">
            <a:avLst/>
          </a:prstGeom>
          <a:noFill/>
          <a:ln/>
        </p:spPr>
        <p:txBody>
          <a:bodyPr wrap="square" lIns="0" tIns="0" rIns="0" bIns="0" rtlCol="0" anchor="ctr"/>
          <a:lstStyle/>
          <a:p>
            <a:pPr algn="ctr" indent="0" marL="0">
              <a:buNone/>
            </a:pPr>
            <a:r>
              <a:rPr lang="en-US" sz="2000" b="1" dirty="0">
                <a:solidFill>
                  <a:srgbClr val="FF5C00"/>
                </a:solidFill>
                <a:latin typeface="Calibri" pitchFamily="34" charset="0"/>
                <a:ea typeface="Calibri" pitchFamily="34" charset="-122"/>
                <a:cs typeface="Calibri" pitchFamily="34" charset="-120"/>
              </a:rPr>
              <a:t>»</a:t>
            </a:r>
            <a:endParaRPr lang="en-US" sz="2000" dirty="0"/>
          </a:p>
        </p:txBody>
      </p:sp>
      <p:sp>
        <p:nvSpPr>
          <p:cNvPr id="17" name="Shape 14"/>
          <p:cNvSpPr/>
          <p:nvPr/>
        </p:nvSpPr>
        <p:spPr>
          <a:xfrm>
            <a:off x="9015984" y="1874520"/>
            <a:ext cx="2487168" cy="1371600"/>
          </a:xfrm>
          <a:prstGeom prst="roundRect">
            <a:avLst>
              <a:gd name="adj" fmla="val 5333"/>
            </a:avLst>
          </a:prstGeom>
          <a:solidFill>
            <a:srgbClr val="1A202C"/>
          </a:solidFill>
          <a:ln w="6350">
            <a:solidFill>
              <a:srgbClr val="1A202C"/>
            </a:solidFill>
            <a:prstDash val="solid"/>
          </a:ln>
        </p:spPr>
      </p:sp>
      <p:sp>
        <p:nvSpPr>
          <p:cNvPr id="18" name="Text 15"/>
          <p:cNvSpPr/>
          <p:nvPr/>
        </p:nvSpPr>
        <p:spPr>
          <a:xfrm>
            <a:off x="9217152" y="2057400"/>
            <a:ext cx="2084832" cy="292608"/>
          </a:xfrm>
          <a:prstGeom prst="rect">
            <a:avLst/>
          </a:prstGeom>
          <a:noFill/>
          <a:ln/>
        </p:spPr>
        <p:txBody>
          <a:bodyPr wrap="square" lIns="0" tIns="0" rIns="0" bIns="0" rtlCol="0" anchor="ctr"/>
          <a:lstStyle/>
          <a:p>
            <a:pPr indent="0" marL="0">
              <a:buNone/>
            </a:pPr>
            <a:r>
              <a:rPr lang="en-US" sz="1500" b="1" dirty="0">
                <a:solidFill>
                  <a:srgbClr val="EDF1F8"/>
                </a:solidFill>
                <a:latin typeface="Calibri" pitchFamily="34" charset="0"/>
                <a:ea typeface="Calibri" pitchFamily="34" charset="-122"/>
                <a:cs typeface="Calibri" pitchFamily="34" charset="-120"/>
              </a:rPr>
              <a:t>Playwright</a:t>
            </a:r>
            <a:endParaRPr lang="en-US" sz="1500" dirty="0"/>
          </a:p>
        </p:txBody>
      </p:sp>
      <p:sp>
        <p:nvSpPr>
          <p:cNvPr id="19" name="Text 16"/>
          <p:cNvSpPr/>
          <p:nvPr/>
        </p:nvSpPr>
        <p:spPr>
          <a:xfrm>
            <a:off x="9217152" y="2395728"/>
            <a:ext cx="2084832" cy="685800"/>
          </a:xfrm>
          <a:prstGeom prst="rect">
            <a:avLst/>
          </a:prstGeom>
          <a:noFill/>
          <a:ln/>
        </p:spPr>
        <p:txBody>
          <a:bodyPr wrap="square" lIns="0" tIns="0" rIns="0" bIns="0" rtlCol="0" anchor="ctr"/>
          <a:lstStyle/>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CDP into your</a:t>
            </a:r>
            <a:endParaRPr lang="en-US" sz="1150" dirty="0"/>
          </a:p>
          <a:p>
            <a:pPr indent="0" marL="0">
              <a:lnSpc>
                <a:spcPts val="1600"/>
              </a:lnSpc>
              <a:buNone/>
            </a:pPr>
            <a:r>
              <a:rPr lang="en-US" sz="1150" dirty="0">
                <a:solidFill>
                  <a:srgbClr val="8E99AE"/>
                </a:solidFill>
                <a:latin typeface="Calibri" pitchFamily="34" charset="0"/>
                <a:ea typeface="Calibri" pitchFamily="34" charset="-122"/>
                <a:cs typeface="Calibri" pitchFamily="34" charset="-120"/>
              </a:rPr>
              <a:t>signed-in Chrome</a:t>
            </a:r>
            <a:endParaRPr lang="en-US" sz="1150" dirty="0"/>
          </a:p>
        </p:txBody>
      </p:sp>
      <p:sp>
        <p:nvSpPr>
          <p:cNvPr id="20" name="Shape 17"/>
          <p:cNvSpPr/>
          <p:nvPr/>
        </p:nvSpPr>
        <p:spPr>
          <a:xfrm>
            <a:off x="566928" y="3566160"/>
            <a:ext cx="11064240" cy="1115568"/>
          </a:xfrm>
          <a:prstGeom prst="roundRect">
            <a:avLst>
              <a:gd name="adj" fmla="val 6557"/>
            </a:avLst>
          </a:prstGeom>
          <a:solidFill>
            <a:srgbClr val="1A202C"/>
          </a:solidFill>
          <a:ln w="6350">
            <a:solidFill>
              <a:srgbClr val="1A202C"/>
            </a:solidFill>
            <a:prstDash val="solid"/>
          </a:ln>
        </p:spPr>
      </p:sp>
      <p:sp>
        <p:nvSpPr>
          <p:cNvPr id="21" name="Text 18"/>
          <p:cNvSpPr/>
          <p:nvPr/>
        </p:nvSpPr>
        <p:spPr>
          <a:xfrm>
            <a:off x="886968" y="3712464"/>
            <a:ext cx="10424160" cy="274320"/>
          </a:xfrm>
          <a:prstGeom prst="rect">
            <a:avLst/>
          </a:prstGeom>
          <a:noFill/>
          <a:ln/>
        </p:spPr>
        <p:txBody>
          <a:bodyPr wrap="square" lIns="0" tIns="0" rIns="0" bIns="0" rtlCol="0" anchor="ctr"/>
          <a:lstStyle/>
          <a:p>
            <a:pPr indent="0" marL="0">
              <a:buNone/>
            </a:pPr>
            <a:r>
              <a:rPr lang="en-US" sz="1500" b="1" dirty="0">
                <a:solidFill>
                  <a:srgbClr val="FF5C00"/>
                </a:solidFill>
                <a:latin typeface="Calibri" pitchFamily="34" charset="0"/>
                <a:ea typeface="Calibri" pitchFamily="34" charset="-122"/>
                <a:cs typeface="Calibri" pitchFamily="34" charset="-120"/>
              </a:rPr>
              <a:t>The overlay is drawn into the page</a:t>
            </a:r>
            <a:endParaRPr lang="en-US" sz="1500" dirty="0"/>
          </a:p>
        </p:txBody>
      </p:sp>
      <p:sp>
        <p:nvSpPr>
          <p:cNvPr id="22" name="Text 19"/>
          <p:cNvSpPr/>
          <p:nvPr/>
        </p:nvSpPr>
        <p:spPr>
          <a:xfrm>
            <a:off x="886968" y="4023360"/>
            <a:ext cx="10424160" cy="566928"/>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The OS pointer isn't captured in screenshots, so the agent injects its own cursor, glides it to each target, spotlights the element and burns the narration in as a caption. The browser window explains itself even when shared without the app.</a:t>
            </a:r>
            <a:endParaRPr lang="en-US" sz="1250" dirty="0"/>
          </a:p>
        </p:txBody>
      </p:sp>
      <p:sp>
        <p:nvSpPr>
          <p:cNvPr id="23" name="Shape 20"/>
          <p:cNvSpPr/>
          <p:nvPr/>
        </p:nvSpPr>
        <p:spPr>
          <a:xfrm>
            <a:off x="566928" y="4846320"/>
            <a:ext cx="11064240" cy="1115568"/>
          </a:xfrm>
          <a:prstGeom prst="roundRect">
            <a:avLst>
              <a:gd name="adj" fmla="val 6557"/>
            </a:avLst>
          </a:prstGeom>
          <a:solidFill>
            <a:srgbClr val="1A202C"/>
          </a:solidFill>
          <a:ln w="6350">
            <a:solidFill>
              <a:srgbClr val="1A202C"/>
            </a:solidFill>
            <a:prstDash val="solid"/>
          </a:ln>
        </p:spPr>
      </p:sp>
      <p:sp>
        <p:nvSpPr>
          <p:cNvPr id="24" name="Text 21"/>
          <p:cNvSpPr/>
          <p:nvPr/>
        </p:nvSpPr>
        <p:spPr>
          <a:xfrm>
            <a:off x="886968" y="4992624"/>
            <a:ext cx="10424160" cy="274320"/>
          </a:xfrm>
          <a:prstGeom prst="rect">
            <a:avLst/>
          </a:prstGeom>
          <a:noFill/>
          <a:ln/>
        </p:spPr>
        <p:txBody>
          <a:bodyPr wrap="square" lIns="0" tIns="0" rIns="0" bIns="0" rtlCol="0" anchor="ctr"/>
          <a:lstStyle/>
          <a:p>
            <a:pPr indent="0" marL="0">
              <a:buNone/>
            </a:pPr>
            <a:r>
              <a:rPr lang="en-US" sz="1500" b="1" dirty="0">
                <a:solidFill>
                  <a:srgbClr val="FF5C00"/>
                </a:solidFill>
                <a:latin typeface="Calibri" pitchFamily="34" charset="0"/>
                <a:ea typeface="Calibri" pitchFamily="34" charset="-122"/>
                <a:cs typeface="Calibri" pitchFamily="34" charset="-120"/>
              </a:rPr>
              <a:t>The action vocabulary is closed</a:t>
            </a:r>
            <a:endParaRPr lang="en-US" sz="1500" dirty="0"/>
          </a:p>
        </p:txBody>
      </p:sp>
      <p:sp>
        <p:nvSpPr>
          <p:cNvPr id="25" name="Text 22"/>
          <p:cNvSpPr/>
          <p:nvPr/>
        </p:nvSpPr>
        <p:spPr>
          <a:xfrm>
            <a:off x="886968" y="5303520"/>
            <a:ext cx="10424160" cy="566928"/>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navigate · click · fill · press · wait · highlight — and elements are addressed by ARIA role plus accessible name, never CSS or XPath. Constraining the vocabulary is what makes an LLM-authored plan safely executable.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SAFETY</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The prompt asks. The code enforces.</a:t>
            </a:r>
            <a:endParaRPr lang="en-US" sz="3400" dirty="0"/>
          </a:p>
        </p:txBody>
      </p:sp>
      <p:sp>
        <p:nvSpPr>
          <p:cNvPr id="5" name="Shape 2"/>
          <p:cNvSpPr/>
          <p:nvPr/>
        </p:nvSpPr>
        <p:spPr>
          <a:xfrm>
            <a:off x="566928" y="1783080"/>
            <a:ext cx="11064240" cy="786384"/>
          </a:xfrm>
          <a:prstGeom prst="roundRect">
            <a:avLst>
              <a:gd name="adj" fmla="val 9302"/>
            </a:avLst>
          </a:prstGeom>
          <a:solidFill>
            <a:srgbClr val="1A202C"/>
          </a:solidFill>
          <a:ln w="6350">
            <a:solidFill>
              <a:srgbClr val="1A202C"/>
            </a:solidFill>
            <a:prstDash val="solid"/>
          </a:ln>
        </p:spPr>
      </p:sp>
      <p:sp>
        <p:nvSpPr>
          <p:cNvPr id="6" name="Text 3"/>
          <p:cNvSpPr/>
          <p:nvPr/>
        </p:nvSpPr>
        <p:spPr>
          <a:xfrm>
            <a:off x="859536" y="1929384"/>
            <a:ext cx="2377440" cy="502920"/>
          </a:xfrm>
          <a:prstGeom prst="rect">
            <a:avLst/>
          </a:prstGeom>
          <a:noFill/>
          <a:ln/>
        </p:spPr>
        <p:txBody>
          <a:bodyPr wrap="square" lIns="0" tIns="0" rIns="0" bIns="0" rtlCol="0" anchor="ctr"/>
          <a:lstStyle/>
          <a:p>
            <a:pPr indent="0" marL="0">
              <a:buNone/>
            </a:pPr>
            <a:r>
              <a:rPr lang="en-US" sz="1400" b="1" dirty="0">
                <a:solidFill>
                  <a:srgbClr val="FF5C00"/>
                </a:solidFill>
                <a:latin typeface="Calibri" pitchFamily="34" charset="0"/>
                <a:ea typeface="Calibri" pitchFamily="34" charset="-122"/>
                <a:cs typeface="Calibri" pitchFamily="34" charset="-120"/>
              </a:rPr>
              <a:t>Credentials</a:t>
            </a:r>
            <a:endParaRPr lang="en-US" sz="1400" dirty="0"/>
          </a:p>
        </p:txBody>
      </p:sp>
      <p:sp>
        <p:nvSpPr>
          <p:cNvPr id="7" name="Text 4"/>
          <p:cNvSpPr/>
          <p:nvPr/>
        </p:nvSpPr>
        <p:spPr>
          <a:xfrm>
            <a:off x="3401568" y="1901952"/>
            <a:ext cx="7955280" cy="566928"/>
          </a:xfrm>
          <a:prstGeom prst="rect">
            <a:avLst/>
          </a:prstGeom>
          <a:noFill/>
          <a:ln/>
        </p:spPr>
        <p:txBody>
          <a:bodyPr wrap="square" lIns="0" tIns="0" rIns="0" bIns="0" rtlCol="0" anchor="ctr"/>
          <a:lstStyle/>
          <a:p>
            <a:pPr indent="0" marL="0">
              <a:lnSpc>
                <a:spcPts val="1700"/>
              </a:lnSpc>
              <a:buNone/>
            </a:pPr>
            <a:r>
              <a:rPr lang="en-US" sz="1250" dirty="0">
                <a:solidFill>
                  <a:srgbClr val="EDF1F8"/>
                </a:solidFill>
                <a:latin typeface="Calibri" pitchFamily="34" charset="0"/>
                <a:ea typeface="Calibri" pitchFamily="34" charset="-122"/>
                <a:cs typeface="Calibri" pitchFamily="34" charset="-120"/>
              </a:rPr>
              <a:t>Never typed. No login-form code path, no stored cookie. Auth comes from the attached profile. The only secret in the repo is ANTHROPIC_API_KEY.</a:t>
            </a:r>
            <a:endParaRPr lang="en-US" sz="1250" dirty="0"/>
          </a:p>
        </p:txBody>
      </p:sp>
      <p:sp>
        <p:nvSpPr>
          <p:cNvPr id="8" name="Shape 5"/>
          <p:cNvSpPr/>
          <p:nvPr/>
        </p:nvSpPr>
        <p:spPr>
          <a:xfrm>
            <a:off x="566928" y="2651760"/>
            <a:ext cx="11064240" cy="786384"/>
          </a:xfrm>
          <a:prstGeom prst="roundRect">
            <a:avLst>
              <a:gd name="adj" fmla="val 9302"/>
            </a:avLst>
          </a:prstGeom>
          <a:solidFill>
            <a:srgbClr val="232B3A"/>
          </a:solidFill>
          <a:ln w="6350">
            <a:solidFill>
              <a:srgbClr val="232B3A"/>
            </a:solidFill>
            <a:prstDash val="solid"/>
          </a:ln>
        </p:spPr>
      </p:sp>
      <p:sp>
        <p:nvSpPr>
          <p:cNvPr id="9" name="Text 6"/>
          <p:cNvSpPr/>
          <p:nvPr/>
        </p:nvSpPr>
        <p:spPr>
          <a:xfrm>
            <a:off x="859536" y="2798064"/>
            <a:ext cx="2377440" cy="502920"/>
          </a:xfrm>
          <a:prstGeom prst="rect">
            <a:avLst/>
          </a:prstGeom>
          <a:noFill/>
          <a:ln/>
        </p:spPr>
        <p:txBody>
          <a:bodyPr wrap="square" lIns="0" tIns="0" rIns="0" bIns="0" rtlCol="0" anchor="ctr"/>
          <a:lstStyle/>
          <a:p>
            <a:pPr indent="0" marL="0">
              <a:buNone/>
            </a:pPr>
            <a:r>
              <a:rPr lang="en-US" sz="1400" b="1" dirty="0">
                <a:solidFill>
                  <a:srgbClr val="FF5C00"/>
                </a:solidFill>
                <a:latin typeface="Calibri" pitchFamily="34" charset="0"/>
                <a:ea typeface="Calibri" pitchFamily="34" charset="-122"/>
                <a:cs typeface="Calibri" pitchFamily="34" charset="-120"/>
              </a:rPr>
              <a:t>Navigation</a:t>
            </a:r>
            <a:endParaRPr lang="en-US" sz="1400" dirty="0"/>
          </a:p>
        </p:txBody>
      </p:sp>
      <p:sp>
        <p:nvSpPr>
          <p:cNvPr id="10" name="Text 7"/>
          <p:cNvSpPr/>
          <p:nvPr/>
        </p:nvSpPr>
        <p:spPr>
          <a:xfrm>
            <a:off x="3401568" y="2770632"/>
            <a:ext cx="7955280" cy="566928"/>
          </a:xfrm>
          <a:prstGeom prst="rect">
            <a:avLst/>
          </a:prstGeom>
          <a:noFill/>
          <a:ln/>
        </p:spPr>
        <p:txBody>
          <a:bodyPr wrap="square" lIns="0" tIns="0" rIns="0" bIns="0" rtlCol="0" anchor="ctr"/>
          <a:lstStyle/>
          <a:p>
            <a:pPr indent="0" marL="0">
              <a:lnSpc>
                <a:spcPts val="1700"/>
              </a:lnSpc>
              <a:buNone/>
            </a:pPr>
            <a:r>
              <a:rPr lang="en-US" sz="1250" dirty="0">
                <a:solidFill>
                  <a:srgbClr val="EDF1F8"/>
                </a:solidFill>
                <a:latin typeface="Calibri" pitchFamily="34" charset="0"/>
                <a:ea typeface="Calibri" pitchFamily="34" charset="-122"/>
                <a:cs typeface="Calibri" pitchFamily="34" charset="-120"/>
              </a:rPr>
              <a:t>Allowlist derived from the chosen tab, checked in the plan sanitiser AND again immediately before page.goto. Empty allowlist = nothing is in scope.</a:t>
            </a:r>
            <a:endParaRPr lang="en-US" sz="1250" dirty="0"/>
          </a:p>
        </p:txBody>
      </p:sp>
      <p:sp>
        <p:nvSpPr>
          <p:cNvPr id="11" name="Shape 8"/>
          <p:cNvSpPr/>
          <p:nvPr/>
        </p:nvSpPr>
        <p:spPr>
          <a:xfrm>
            <a:off x="566928" y="3520440"/>
            <a:ext cx="11064240" cy="786384"/>
          </a:xfrm>
          <a:prstGeom prst="roundRect">
            <a:avLst>
              <a:gd name="adj" fmla="val 9302"/>
            </a:avLst>
          </a:prstGeom>
          <a:solidFill>
            <a:srgbClr val="1A202C"/>
          </a:solidFill>
          <a:ln w="6350">
            <a:solidFill>
              <a:srgbClr val="1A202C"/>
            </a:solidFill>
            <a:prstDash val="solid"/>
          </a:ln>
        </p:spPr>
      </p:sp>
      <p:sp>
        <p:nvSpPr>
          <p:cNvPr id="12" name="Text 9"/>
          <p:cNvSpPr/>
          <p:nvPr/>
        </p:nvSpPr>
        <p:spPr>
          <a:xfrm>
            <a:off x="859536" y="3666744"/>
            <a:ext cx="2377440" cy="502920"/>
          </a:xfrm>
          <a:prstGeom prst="rect">
            <a:avLst/>
          </a:prstGeom>
          <a:noFill/>
          <a:ln/>
        </p:spPr>
        <p:txBody>
          <a:bodyPr wrap="square" lIns="0" tIns="0" rIns="0" bIns="0" rtlCol="0" anchor="ctr"/>
          <a:lstStyle/>
          <a:p>
            <a:pPr indent="0" marL="0">
              <a:buNone/>
            </a:pPr>
            <a:r>
              <a:rPr lang="en-US" sz="1400" b="1" dirty="0">
                <a:solidFill>
                  <a:srgbClr val="FF5C00"/>
                </a:solidFill>
                <a:latin typeface="Calibri" pitchFamily="34" charset="0"/>
                <a:ea typeface="Calibri" pitchFamily="34" charset="-122"/>
                <a:cs typeface="Calibri" pitchFamily="34" charset="-120"/>
              </a:rPr>
              <a:t>Destructive actions</a:t>
            </a:r>
            <a:endParaRPr lang="en-US" sz="1400" dirty="0"/>
          </a:p>
        </p:txBody>
      </p:sp>
      <p:sp>
        <p:nvSpPr>
          <p:cNvPr id="13" name="Text 10"/>
          <p:cNvSpPr/>
          <p:nvPr/>
        </p:nvSpPr>
        <p:spPr>
          <a:xfrm>
            <a:off x="3401568" y="3639312"/>
            <a:ext cx="7955280" cy="566928"/>
          </a:xfrm>
          <a:prstGeom prst="rect">
            <a:avLst/>
          </a:prstGeom>
          <a:noFill/>
          <a:ln/>
        </p:spPr>
        <p:txBody>
          <a:bodyPr wrap="square" lIns="0" tIns="0" rIns="0" bIns="0" rtlCol="0" anchor="ctr"/>
          <a:lstStyle/>
          <a:p>
            <a:pPr indent="0" marL="0">
              <a:lnSpc>
                <a:spcPts val="1700"/>
              </a:lnSpc>
              <a:buNone/>
            </a:pPr>
            <a:r>
              <a:rPr lang="en-US" sz="1250" dirty="0">
                <a:solidFill>
                  <a:srgbClr val="EDF1F8"/>
                </a:solidFill>
                <a:latin typeface="Calibri" pitchFamily="34" charset="0"/>
                <a:ea typeface="Calibri" pitchFamily="34" charset="-122"/>
                <a:cs typeface="Calibri" pitchFamily="34" charset="-120"/>
              </a:rPr>
              <a:t>The planner is told to prefer showing over changing: never delete, send, publish, pay, or alter account settings.</a:t>
            </a:r>
            <a:endParaRPr lang="en-US" sz="1250" dirty="0"/>
          </a:p>
        </p:txBody>
      </p:sp>
      <p:sp>
        <p:nvSpPr>
          <p:cNvPr id="14" name="Shape 11"/>
          <p:cNvSpPr/>
          <p:nvPr/>
        </p:nvSpPr>
        <p:spPr>
          <a:xfrm>
            <a:off x="566928" y="4389120"/>
            <a:ext cx="11064240" cy="786384"/>
          </a:xfrm>
          <a:prstGeom prst="roundRect">
            <a:avLst>
              <a:gd name="adj" fmla="val 9302"/>
            </a:avLst>
          </a:prstGeom>
          <a:solidFill>
            <a:srgbClr val="232B3A"/>
          </a:solidFill>
          <a:ln w="6350">
            <a:solidFill>
              <a:srgbClr val="232B3A"/>
            </a:solidFill>
            <a:prstDash val="solid"/>
          </a:ln>
        </p:spPr>
      </p:sp>
      <p:sp>
        <p:nvSpPr>
          <p:cNvPr id="15" name="Text 12"/>
          <p:cNvSpPr/>
          <p:nvPr/>
        </p:nvSpPr>
        <p:spPr>
          <a:xfrm>
            <a:off x="859536" y="4535424"/>
            <a:ext cx="2377440" cy="502920"/>
          </a:xfrm>
          <a:prstGeom prst="rect">
            <a:avLst/>
          </a:prstGeom>
          <a:noFill/>
          <a:ln/>
        </p:spPr>
        <p:txBody>
          <a:bodyPr wrap="square" lIns="0" tIns="0" rIns="0" bIns="0" rtlCol="0" anchor="ctr"/>
          <a:lstStyle/>
          <a:p>
            <a:pPr indent="0" marL="0">
              <a:buNone/>
            </a:pPr>
            <a:r>
              <a:rPr lang="en-US" sz="1400" b="1" dirty="0">
                <a:solidFill>
                  <a:srgbClr val="FF5C00"/>
                </a:solidFill>
                <a:latin typeface="Calibri" pitchFamily="34" charset="0"/>
                <a:ea typeface="Calibri" pitchFamily="34" charset="-122"/>
                <a:cs typeface="Calibri" pitchFamily="34" charset="-120"/>
              </a:rPr>
              <a:t>Signed-in state</a:t>
            </a:r>
            <a:endParaRPr lang="en-US" sz="1400" dirty="0"/>
          </a:p>
        </p:txBody>
      </p:sp>
      <p:sp>
        <p:nvSpPr>
          <p:cNvPr id="16" name="Text 13"/>
          <p:cNvSpPr/>
          <p:nvPr/>
        </p:nvSpPr>
        <p:spPr>
          <a:xfrm>
            <a:off x="3401568" y="4507992"/>
            <a:ext cx="7955280" cy="566928"/>
          </a:xfrm>
          <a:prstGeom prst="rect">
            <a:avLst/>
          </a:prstGeom>
          <a:noFill/>
          <a:ln/>
        </p:spPr>
        <p:txBody>
          <a:bodyPr wrap="square" lIns="0" tIns="0" rIns="0" bIns="0" rtlCol="0" anchor="ctr"/>
          <a:lstStyle/>
          <a:p>
            <a:pPr indent="0" marL="0">
              <a:lnSpc>
                <a:spcPts val="1700"/>
              </a:lnSpc>
              <a:buNone/>
            </a:pPr>
            <a:r>
              <a:rPr lang="en-US" sz="1250" dirty="0">
                <a:solidFill>
                  <a:srgbClr val="EDF1F8"/>
                </a:solidFill>
                <a:latin typeface="Calibri" pitchFamily="34" charset="0"/>
                <a:ea typeface="Calibri" pitchFamily="34" charset="-122"/>
                <a:cs typeface="Calibri" pitchFamily="34" charset="-120"/>
              </a:rPr>
              <a:t>Detected before planning. Signed out, it points at where account features live instead of clicking things it cannot complete.</a:t>
            </a:r>
            <a:endParaRPr lang="en-US" sz="1250" dirty="0"/>
          </a:p>
        </p:txBody>
      </p:sp>
      <p:sp>
        <p:nvSpPr>
          <p:cNvPr id="17" name="Shape 14"/>
          <p:cNvSpPr/>
          <p:nvPr/>
        </p:nvSpPr>
        <p:spPr>
          <a:xfrm>
            <a:off x="566928" y="5257800"/>
            <a:ext cx="11064240" cy="786384"/>
          </a:xfrm>
          <a:prstGeom prst="roundRect">
            <a:avLst>
              <a:gd name="adj" fmla="val 9302"/>
            </a:avLst>
          </a:prstGeom>
          <a:solidFill>
            <a:srgbClr val="1A202C"/>
          </a:solidFill>
          <a:ln w="6350">
            <a:solidFill>
              <a:srgbClr val="1A202C"/>
            </a:solidFill>
            <a:prstDash val="solid"/>
          </a:ln>
        </p:spPr>
      </p:sp>
      <p:sp>
        <p:nvSpPr>
          <p:cNvPr id="18" name="Text 15"/>
          <p:cNvSpPr/>
          <p:nvPr/>
        </p:nvSpPr>
        <p:spPr>
          <a:xfrm>
            <a:off x="859536" y="5404104"/>
            <a:ext cx="2377440" cy="502920"/>
          </a:xfrm>
          <a:prstGeom prst="rect">
            <a:avLst/>
          </a:prstGeom>
          <a:noFill/>
          <a:ln/>
        </p:spPr>
        <p:txBody>
          <a:bodyPr wrap="square" lIns="0" tIns="0" rIns="0" bIns="0" rtlCol="0" anchor="ctr"/>
          <a:lstStyle/>
          <a:p>
            <a:pPr indent="0" marL="0">
              <a:buNone/>
            </a:pPr>
            <a:r>
              <a:rPr lang="en-US" sz="1400" b="1" dirty="0">
                <a:solidFill>
                  <a:srgbClr val="FF5C00"/>
                </a:solidFill>
                <a:latin typeface="Calibri" pitchFamily="34" charset="0"/>
                <a:ea typeface="Calibri" pitchFamily="34" charset="-122"/>
                <a:cs typeface="Calibri" pitchFamily="34" charset="-120"/>
              </a:rPr>
              <a:t>Your browser</a:t>
            </a:r>
            <a:endParaRPr lang="en-US" sz="1400" dirty="0"/>
          </a:p>
        </p:txBody>
      </p:sp>
      <p:sp>
        <p:nvSpPr>
          <p:cNvPr id="19" name="Text 16"/>
          <p:cNvSpPr/>
          <p:nvPr/>
        </p:nvSpPr>
        <p:spPr>
          <a:xfrm>
            <a:off x="3401568" y="5376672"/>
            <a:ext cx="7955280" cy="566928"/>
          </a:xfrm>
          <a:prstGeom prst="rect">
            <a:avLst/>
          </a:prstGeom>
          <a:noFill/>
          <a:ln/>
        </p:spPr>
        <p:txBody>
          <a:bodyPr wrap="square" lIns="0" tIns="0" rIns="0" bIns="0" rtlCol="0" anchor="ctr"/>
          <a:lstStyle/>
          <a:p>
            <a:pPr indent="0" marL="0">
              <a:lnSpc>
                <a:spcPts val="1700"/>
              </a:lnSpc>
              <a:buNone/>
            </a:pPr>
            <a:r>
              <a:rPr lang="en-US" sz="1250" dirty="0">
                <a:solidFill>
                  <a:srgbClr val="EDF1F8"/>
                </a:solidFill>
                <a:latin typeface="Calibri" pitchFamily="34" charset="0"/>
                <a:ea typeface="Calibri" pitchFamily="34" charset="-122"/>
                <a:cs typeface="Calibri" pitchFamily="34" charset="-120"/>
              </a:rPr>
              <a:t>An attached browser is never closed on teardown — stop() disconnects. Auto-launch only ever fires for a CDP URL on this machine.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WHAT RUNNING IT LIVE TAUGHT ME</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Seven defects that only a real product surfaced</a:t>
            </a:r>
            <a:endParaRPr lang="en-US" sz="3400" dirty="0"/>
          </a:p>
        </p:txBody>
      </p:sp>
      <p:sp>
        <p:nvSpPr>
          <p:cNvPr id="5" name="Shape 2"/>
          <p:cNvSpPr/>
          <p:nvPr/>
        </p:nvSpPr>
        <p:spPr>
          <a:xfrm>
            <a:off x="566928" y="1828800"/>
            <a:ext cx="3566160" cy="1417320"/>
          </a:xfrm>
          <a:prstGeom prst="roundRect">
            <a:avLst>
              <a:gd name="adj" fmla="val 5161"/>
            </a:avLst>
          </a:prstGeom>
          <a:solidFill>
            <a:srgbClr val="1A202C"/>
          </a:solidFill>
          <a:ln w="6350">
            <a:solidFill>
              <a:srgbClr val="1A202C"/>
            </a:solidFill>
            <a:prstDash val="solid"/>
          </a:ln>
        </p:spPr>
      </p:sp>
      <p:sp>
        <p:nvSpPr>
          <p:cNvPr id="6" name="Shape 3"/>
          <p:cNvSpPr/>
          <p:nvPr/>
        </p:nvSpPr>
        <p:spPr>
          <a:xfrm>
            <a:off x="804672" y="2048256"/>
            <a:ext cx="365760" cy="365760"/>
          </a:xfrm>
          <a:prstGeom prst="ellipse">
            <a:avLst/>
          </a:prstGeom>
          <a:solidFill>
            <a:srgbClr val="FF5C00"/>
          </a:solidFill>
          <a:ln w="6350">
            <a:solidFill>
              <a:srgbClr val="FF5C00"/>
            </a:solidFill>
            <a:prstDash val="solid"/>
          </a:ln>
        </p:spPr>
      </p:sp>
      <p:sp>
        <p:nvSpPr>
          <p:cNvPr id="7" name="Text 4"/>
          <p:cNvSpPr/>
          <p:nvPr/>
        </p:nvSpPr>
        <p:spPr>
          <a:xfrm>
            <a:off x="804672" y="2048256"/>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01</a:t>
            </a:r>
            <a:endParaRPr lang="en-US" sz="1400" dirty="0"/>
          </a:p>
        </p:txBody>
      </p:sp>
      <p:sp>
        <p:nvSpPr>
          <p:cNvPr id="8" name="Text 5"/>
          <p:cNvSpPr/>
          <p:nvPr/>
        </p:nvSpPr>
        <p:spPr>
          <a:xfrm>
            <a:off x="1261872" y="2029968"/>
            <a:ext cx="2651760" cy="420624"/>
          </a:xfrm>
          <a:prstGeom prst="rect">
            <a:avLst/>
          </a:prstGeom>
          <a:noFill/>
          <a:ln/>
        </p:spPr>
        <p:txBody>
          <a:bodyPr wrap="square" lIns="0" tIns="0" rIns="0" bIns="0" rtlCol="0" anchor="ctr"/>
          <a:lstStyle/>
          <a:p>
            <a:pPr indent="0" marL="0">
              <a:lnSpc>
                <a:spcPts val="1600"/>
              </a:lnSpc>
              <a:buNone/>
            </a:pPr>
            <a:r>
              <a:rPr lang="en-US" sz="1300" b="1" dirty="0">
                <a:solidFill>
                  <a:srgbClr val="EDF1F8"/>
                </a:solidFill>
                <a:latin typeface="Calibri" pitchFamily="34" charset="0"/>
                <a:ea typeface="Calibri" pitchFamily="34" charset="-122"/>
                <a:cs typeface="Calibri" pitchFamily="34" charset="-120"/>
              </a:rPr>
              <a:t>Trusted Types killed the overlay</a:t>
            </a:r>
            <a:endParaRPr lang="en-US" sz="1300" dirty="0"/>
          </a:p>
        </p:txBody>
      </p:sp>
      <p:sp>
        <p:nvSpPr>
          <p:cNvPr id="9" name="Text 6"/>
          <p:cNvSpPr/>
          <p:nvPr/>
        </p:nvSpPr>
        <p:spPr>
          <a:xfrm>
            <a:off x="804672" y="2542032"/>
            <a:ext cx="3108960" cy="621792"/>
          </a:xfrm>
          <a:prstGeom prst="rect">
            <a:avLst/>
          </a:prstGeom>
          <a:noFill/>
          <a:ln/>
        </p:spPr>
        <p:txBody>
          <a:bodyPr wrap="square" lIns="0" tIns="0" rIns="0" bIns="0" rtlCol="0" anchor="ctr"/>
          <a:lstStyle/>
          <a:p>
            <a:pPr indent="0" marL="0">
              <a:lnSpc>
                <a:spcPts val="1450"/>
              </a:lnSpc>
              <a:buNone/>
            </a:pPr>
            <a:r>
              <a:rPr lang="en-US" sz="1100" dirty="0">
                <a:solidFill>
                  <a:srgbClr val="8E99AE"/>
                </a:solidFill>
                <a:latin typeface="Calibri" pitchFamily="34" charset="0"/>
                <a:ea typeface="Calibri" pitchFamily="34" charset="-122"/>
                <a:cs typeface="Calibri" pitchFamily="34" charset="-120"/>
              </a:rPr>
              <a:t>YouTube's CSP made the cursor's innerHTML throw — taking captions down with it. Now built with createElementNS.</a:t>
            </a:r>
            <a:endParaRPr lang="en-US" sz="1100" dirty="0"/>
          </a:p>
        </p:txBody>
      </p:sp>
      <p:sp>
        <p:nvSpPr>
          <p:cNvPr id="10" name="Shape 7"/>
          <p:cNvSpPr/>
          <p:nvPr/>
        </p:nvSpPr>
        <p:spPr>
          <a:xfrm>
            <a:off x="4315968" y="1828800"/>
            <a:ext cx="3566160" cy="1417320"/>
          </a:xfrm>
          <a:prstGeom prst="roundRect">
            <a:avLst>
              <a:gd name="adj" fmla="val 5161"/>
            </a:avLst>
          </a:prstGeom>
          <a:solidFill>
            <a:srgbClr val="1A202C"/>
          </a:solidFill>
          <a:ln w="6350">
            <a:solidFill>
              <a:srgbClr val="1A202C"/>
            </a:solidFill>
            <a:prstDash val="solid"/>
          </a:ln>
        </p:spPr>
      </p:sp>
      <p:sp>
        <p:nvSpPr>
          <p:cNvPr id="11" name="Shape 8"/>
          <p:cNvSpPr/>
          <p:nvPr/>
        </p:nvSpPr>
        <p:spPr>
          <a:xfrm>
            <a:off x="4553712" y="2048256"/>
            <a:ext cx="365760" cy="365760"/>
          </a:xfrm>
          <a:prstGeom prst="ellipse">
            <a:avLst/>
          </a:prstGeom>
          <a:solidFill>
            <a:srgbClr val="FF5C00"/>
          </a:solidFill>
          <a:ln w="6350">
            <a:solidFill>
              <a:srgbClr val="FF5C00"/>
            </a:solidFill>
            <a:prstDash val="solid"/>
          </a:ln>
        </p:spPr>
      </p:sp>
      <p:sp>
        <p:nvSpPr>
          <p:cNvPr id="12" name="Text 9"/>
          <p:cNvSpPr/>
          <p:nvPr/>
        </p:nvSpPr>
        <p:spPr>
          <a:xfrm>
            <a:off x="4553712" y="2048256"/>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02</a:t>
            </a:r>
            <a:endParaRPr lang="en-US" sz="1400" dirty="0"/>
          </a:p>
        </p:txBody>
      </p:sp>
      <p:sp>
        <p:nvSpPr>
          <p:cNvPr id="13" name="Text 10"/>
          <p:cNvSpPr/>
          <p:nvPr/>
        </p:nvSpPr>
        <p:spPr>
          <a:xfrm>
            <a:off x="5010912" y="2029968"/>
            <a:ext cx="2651760" cy="420624"/>
          </a:xfrm>
          <a:prstGeom prst="rect">
            <a:avLst/>
          </a:prstGeom>
          <a:noFill/>
          <a:ln/>
        </p:spPr>
        <p:txBody>
          <a:bodyPr wrap="square" lIns="0" tIns="0" rIns="0" bIns="0" rtlCol="0" anchor="ctr"/>
          <a:lstStyle/>
          <a:p>
            <a:pPr indent="0" marL="0">
              <a:lnSpc>
                <a:spcPts val="1600"/>
              </a:lnSpc>
              <a:buNone/>
            </a:pPr>
            <a:r>
              <a:rPr lang="en-US" sz="1300" b="1" dirty="0">
                <a:solidFill>
                  <a:srgbClr val="EDF1F8"/>
                </a:solidFill>
                <a:latin typeface="Calibri" pitchFamily="34" charset="0"/>
                <a:ea typeface="Calibri" pitchFamily="34" charset="-122"/>
                <a:cs typeface="Calibri" pitchFamily="34" charset="-120"/>
              </a:rPr>
              <a:t>SPAs dropped the overlay</a:t>
            </a:r>
            <a:endParaRPr lang="en-US" sz="1300" dirty="0"/>
          </a:p>
        </p:txBody>
      </p:sp>
      <p:sp>
        <p:nvSpPr>
          <p:cNvPr id="14" name="Text 11"/>
          <p:cNvSpPr/>
          <p:nvPr/>
        </p:nvSpPr>
        <p:spPr>
          <a:xfrm>
            <a:off x="4553712" y="2542032"/>
            <a:ext cx="3108960" cy="621792"/>
          </a:xfrm>
          <a:prstGeom prst="rect">
            <a:avLst/>
          </a:prstGeom>
          <a:noFill/>
          <a:ln/>
        </p:spPr>
        <p:txBody>
          <a:bodyPr wrap="square" lIns="0" tIns="0" rIns="0" bIns="0" rtlCol="0" anchor="ctr"/>
          <a:lstStyle/>
          <a:p>
            <a:pPr indent="0" marL="0">
              <a:lnSpc>
                <a:spcPts val="1450"/>
              </a:lnSpc>
              <a:buNone/>
            </a:pPr>
            <a:r>
              <a:rPr lang="en-US" sz="1100" dirty="0">
                <a:solidFill>
                  <a:srgbClr val="8E99AE"/>
                </a:solidFill>
                <a:latin typeface="Calibri" pitchFamily="34" charset="0"/>
                <a:ea typeface="Calibri" pitchFamily="34" charset="-122"/>
                <a:cs typeface="Calibri" pitchFamily="34" charset="-120"/>
              </a:rPr>
              <a:t>Re-rendered document.body took our nodes. The builder trusted a boolean; it checks isConnected now.</a:t>
            </a:r>
            <a:endParaRPr lang="en-US" sz="1100" dirty="0"/>
          </a:p>
        </p:txBody>
      </p:sp>
      <p:sp>
        <p:nvSpPr>
          <p:cNvPr id="15" name="Shape 12"/>
          <p:cNvSpPr/>
          <p:nvPr/>
        </p:nvSpPr>
        <p:spPr>
          <a:xfrm>
            <a:off x="8065008" y="1828800"/>
            <a:ext cx="3566160" cy="1417320"/>
          </a:xfrm>
          <a:prstGeom prst="roundRect">
            <a:avLst>
              <a:gd name="adj" fmla="val 5161"/>
            </a:avLst>
          </a:prstGeom>
          <a:solidFill>
            <a:srgbClr val="1A202C"/>
          </a:solidFill>
          <a:ln w="6350">
            <a:solidFill>
              <a:srgbClr val="1A202C"/>
            </a:solidFill>
            <a:prstDash val="solid"/>
          </a:ln>
        </p:spPr>
      </p:sp>
      <p:sp>
        <p:nvSpPr>
          <p:cNvPr id="16" name="Shape 13"/>
          <p:cNvSpPr/>
          <p:nvPr/>
        </p:nvSpPr>
        <p:spPr>
          <a:xfrm>
            <a:off x="8302752" y="2048256"/>
            <a:ext cx="365760" cy="365760"/>
          </a:xfrm>
          <a:prstGeom prst="ellipse">
            <a:avLst/>
          </a:prstGeom>
          <a:solidFill>
            <a:srgbClr val="FF5C00"/>
          </a:solidFill>
          <a:ln w="6350">
            <a:solidFill>
              <a:srgbClr val="FF5C00"/>
            </a:solidFill>
            <a:prstDash val="solid"/>
          </a:ln>
        </p:spPr>
      </p:sp>
      <p:sp>
        <p:nvSpPr>
          <p:cNvPr id="17" name="Text 14"/>
          <p:cNvSpPr/>
          <p:nvPr/>
        </p:nvSpPr>
        <p:spPr>
          <a:xfrm>
            <a:off x="8302752" y="2048256"/>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03</a:t>
            </a:r>
            <a:endParaRPr lang="en-US" sz="1400" dirty="0"/>
          </a:p>
        </p:txBody>
      </p:sp>
      <p:sp>
        <p:nvSpPr>
          <p:cNvPr id="18" name="Text 15"/>
          <p:cNvSpPr/>
          <p:nvPr/>
        </p:nvSpPr>
        <p:spPr>
          <a:xfrm>
            <a:off x="8759952" y="2029968"/>
            <a:ext cx="2651760" cy="420624"/>
          </a:xfrm>
          <a:prstGeom prst="rect">
            <a:avLst/>
          </a:prstGeom>
          <a:noFill/>
          <a:ln/>
        </p:spPr>
        <p:txBody>
          <a:bodyPr wrap="square" lIns="0" tIns="0" rIns="0" bIns="0" rtlCol="0" anchor="ctr"/>
          <a:lstStyle/>
          <a:p>
            <a:pPr indent="0" marL="0">
              <a:lnSpc>
                <a:spcPts val="1600"/>
              </a:lnSpc>
              <a:buNone/>
            </a:pPr>
            <a:r>
              <a:rPr lang="en-US" sz="1300" b="1" dirty="0">
                <a:solidFill>
                  <a:srgbClr val="EDF1F8"/>
                </a:solidFill>
                <a:latin typeface="Calibri" pitchFamily="34" charset="0"/>
                <a:ea typeface="Calibri" pitchFamily="34" charset="-122"/>
                <a:cs typeface="Calibri" pitchFamily="34" charset="-120"/>
              </a:rPr>
              <a:t>A locator clicked the logo</a:t>
            </a:r>
            <a:endParaRPr lang="en-US" sz="1300" dirty="0"/>
          </a:p>
        </p:txBody>
      </p:sp>
      <p:sp>
        <p:nvSpPr>
          <p:cNvPr id="19" name="Text 16"/>
          <p:cNvSpPr/>
          <p:nvPr/>
        </p:nvSpPr>
        <p:spPr>
          <a:xfrm>
            <a:off x="8302752" y="2542032"/>
            <a:ext cx="3108960" cy="621792"/>
          </a:xfrm>
          <a:prstGeom prst="rect">
            <a:avLst/>
          </a:prstGeom>
          <a:noFill/>
          <a:ln/>
        </p:spPr>
        <p:txBody>
          <a:bodyPr wrap="square" lIns="0" tIns="0" rIns="0" bIns="0" rtlCol="0" anchor="ctr"/>
          <a:lstStyle/>
          <a:p>
            <a:pPr indent="0" marL="0">
              <a:lnSpc>
                <a:spcPts val="1450"/>
              </a:lnSpc>
              <a:buNone/>
            </a:pPr>
            <a:r>
              <a:rPr lang="en-US" sz="1100" dirty="0">
                <a:solidFill>
                  <a:srgbClr val="8E99AE"/>
                </a:solidFill>
                <a:latin typeface="Calibri" pitchFamily="34" charset="0"/>
                <a:ea typeface="Calibri" pitchFamily="34" charset="-122"/>
                <a:cs typeface="Calibri" pitchFamily="34" charset="-120"/>
              </a:rPr>
              <a:t>name="You" also matched “YouTube Home”, earlier in the DOM. Exact names before substrings, visible matches only.</a:t>
            </a:r>
            <a:endParaRPr lang="en-US" sz="1100" dirty="0"/>
          </a:p>
        </p:txBody>
      </p:sp>
      <p:sp>
        <p:nvSpPr>
          <p:cNvPr id="20" name="Shape 17"/>
          <p:cNvSpPr/>
          <p:nvPr/>
        </p:nvSpPr>
        <p:spPr>
          <a:xfrm>
            <a:off x="566928" y="3401568"/>
            <a:ext cx="3566160" cy="1417320"/>
          </a:xfrm>
          <a:prstGeom prst="roundRect">
            <a:avLst>
              <a:gd name="adj" fmla="val 5161"/>
            </a:avLst>
          </a:prstGeom>
          <a:solidFill>
            <a:srgbClr val="1A202C"/>
          </a:solidFill>
          <a:ln w="6350">
            <a:solidFill>
              <a:srgbClr val="1A202C"/>
            </a:solidFill>
            <a:prstDash val="solid"/>
          </a:ln>
        </p:spPr>
      </p:sp>
      <p:sp>
        <p:nvSpPr>
          <p:cNvPr id="21" name="Shape 18"/>
          <p:cNvSpPr/>
          <p:nvPr/>
        </p:nvSpPr>
        <p:spPr>
          <a:xfrm>
            <a:off x="804672" y="3621024"/>
            <a:ext cx="365760" cy="365760"/>
          </a:xfrm>
          <a:prstGeom prst="ellipse">
            <a:avLst/>
          </a:prstGeom>
          <a:solidFill>
            <a:srgbClr val="FF5C00"/>
          </a:solidFill>
          <a:ln w="6350">
            <a:solidFill>
              <a:srgbClr val="FF5C00"/>
            </a:solidFill>
            <a:prstDash val="solid"/>
          </a:ln>
        </p:spPr>
      </p:sp>
      <p:sp>
        <p:nvSpPr>
          <p:cNvPr id="22" name="Text 19"/>
          <p:cNvSpPr/>
          <p:nvPr/>
        </p:nvSpPr>
        <p:spPr>
          <a:xfrm>
            <a:off x="804672" y="3621024"/>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04</a:t>
            </a:r>
            <a:endParaRPr lang="en-US" sz="1400" dirty="0"/>
          </a:p>
        </p:txBody>
      </p:sp>
      <p:sp>
        <p:nvSpPr>
          <p:cNvPr id="23" name="Text 20"/>
          <p:cNvSpPr/>
          <p:nvPr/>
        </p:nvSpPr>
        <p:spPr>
          <a:xfrm>
            <a:off x="1261872" y="3602736"/>
            <a:ext cx="2651760" cy="420624"/>
          </a:xfrm>
          <a:prstGeom prst="rect">
            <a:avLst/>
          </a:prstGeom>
          <a:noFill/>
          <a:ln/>
        </p:spPr>
        <p:txBody>
          <a:bodyPr wrap="square" lIns="0" tIns="0" rIns="0" bIns="0" rtlCol="0" anchor="ctr"/>
          <a:lstStyle/>
          <a:p>
            <a:pPr indent="0" marL="0">
              <a:lnSpc>
                <a:spcPts val="1600"/>
              </a:lnSpc>
              <a:buNone/>
            </a:pPr>
            <a:r>
              <a:rPr lang="en-US" sz="1300" b="1" dirty="0">
                <a:solidFill>
                  <a:srgbClr val="EDF1F8"/>
                </a:solidFill>
                <a:latin typeface="Calibri" pitchFamily="34" charset="0"/>
                <a:ea typeface="Calibri" pitchFamily="34" charset="-122"/>
                <a:cs typeface="Calibri" pitchFamily="34" charset="-120"/>
              </a:rPr>
              <a:t>A re-plan was skipped</a:t>
            </a:r>
            <a:endParaRPr lang="en-US" sz="1300" dirty="0"/>
          </a:p>
        </p:txBody>
      </p:sp>
      <p:sp>
        <p:nvSpPr>
          <p:cNvPr id="24" name="Text 21"/>
          <p:cNvSpPr/>
          <p:nvPr/>
        </p:nvSpPr>
        <p:spPr>
          <a:xfrm>
            <a:off x="804672" y="4114800"/>
            <a:ext cx="3108960" cy="621792"/>
          </a:xfrm>
          <a:prstGeom prst="rect">
            <a:avLst/>
          </a:prstGeom>
          <a:noFill/>
          <a:ln/>
        </p:spPr>
        <p:txBody>
          <a:bodyPr wrap="square" lIns="0" tIns="0" rIns="0" bIns="0" rtlCol="0" anchor="ctr"/>
          <a:lstStyle/>
          <a:p>
            <a:pPr indent="0" marL="0">
              <a:lnSpc>
                <a:spcPts val="1450"/>
              </a:lnSpc>
              <a:buNone/>
            </a:pPr>
            <a:r>
              <a:rPr lang="en-US" sz="1100" dirty="0">
                <a:solidFill>
                  <a:srgbClr val="8E99AE"/>
                </a:solidFill>
                <a:latin typeface="Calibri" pitchFamily="34" charset="0"/>
                <a:ea typeface="Calibri" pitchFamily="34" charset="-122"/>
                <a:cs typeface="Calibri" pitchFamily="34" charset="-120"/>
              </a:rPr>
              <a:t>The loop cached the running step, finished it, and advanced past the new one. Pinned by a test.</a:t>
            </a:r>
            <a:endParaRPr lang="en-US" sz="1100" dirty="0"/>
          </a:p>
        </p:txBody>
      </p:sp>
      <p:sp>
        <p:nvSpPr>
          <p:cNvPr id="25" name="Shape 22"/>
          <p:cNvSpPr/>
          <p:nvPr/>
        </p:nvSpPr>
        <p:spPr>
          <a:xfrm>
            <a:off x="4315968" y="3401568"/>
            <a:ext cx="3566160" cy="1417320"/>
          </a:xfrm>
          <a:prstGeom prst="roundRect">
            <a:avLst>
              <a:gd name="adj" fmla="val 5161"/>
            </a:avLst>
          </a:prstGeom>
          <a:solidFill>
            <a:srgbClr val="1A202C"/>
          </a:solidFill>
          <a:ln w="6350">
            <a:solidFill>
              <a:srgbClr val="1A202C"/>
            </a:solidFill>
            <a:prstDash val="solid"/>
          </a:ln>
        </p:spPr>
      </p:sp>
      <p:sp>
        <p:nvSpPr>
          <p:cNvPr id="26" name="Shape 23"/>
          <p:cNvSpPr/>
          <p:nvPr/>
        </p:nvSpPr>
        <p:spPr>
          <a:xfrm>
            <a:off x="4553712" y="3621024"/>
            <a:ext cx="365760" cy="365760"/>
          </a:xfrm>
          <a:prstGeom prst="ellipse">
            <a:avLst/>
          </a:prstGeom>
          <a:solidFill>
            <a:srgbClr val="FF5C00"/>
          </a:solidFill>
          <a:ln w="6350">
            <a:solidFill>
              <a:srgbClr val="FF5C00"/>
            </a:solidFill>
            <a:prstDash val="solid"/>
          </a:ln>
        </p:spPr>
      </p:sp>
      <p:sp>
        <p:nvSpPr>
          <p:cNvPr id="27" name="Text 24"/>
          <p:cNvSpPr/>
          <p:nvPr/>
        </p:nvSpPr>
        <p:spPr>
          <a:xfrm>
            <a:off x="4553712" y="3621024"/>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05</a:t>
            </a:r>
            <a:endParaRPr lang="en-US" sz="1400" dirty="0"/>
          </a:p>
        </p:txBody>
      </p:sp>
      <p:sp>
        <p:nvSpPr>
          <p:cNvPr id="28" name="Text 25"/>
          <p:cNvSpPr/>
          <p:nvPr/>
        </p:nvSpPr>
        <p:spPr>
          <a:xfrm>
            <a:off x="5010912" y="3602736"/>
            <a:ext cx="2651760" cy="420624"/>
          </a:xfrm>
          <a:prstGeom prst="rect">
            <a:avLst/>
          </a:prstGeom>
          <a:noFill/>
          <a:ln/>
        </p:spPr>
        <p:txBody>
          <a:bodyPr wrap="square" lIns="0" tIns="0" rIns="0" bIns="0" rtlCol="0" anchor="ctr"/>
          <a:lstStyle/>
          <a:p>
            <a:pPr indent="0" marL="0">
              <a:lnSpc>
                <a:spcPts val="1600"/>
              </a:lnSpc>
              <a:buNone/>
            </a:pPr>
            <a:r>
              <a:rPr lang="en-US" sz="1300" b="1" dirty="0">
                <a:solidFill>
                  <a:srgbClr val="EDF1F8"/>
                </a:solidFill>
                <a:latin typeface="Calibri" pitchFamily="34" charset="0"/>
                <a:ea typeface="Calibri" pitchFamily="34" charset="-122"/>
                <a:cs typeface="Calibri" pitchFamily="34" charset="-120"/>
              </a:rPr>
              <a:t>The sign-in prompt deadlocked</a:t>
            </a:r>
            <a:endParaRPr lang="en-US" sz="1300" dirty="0"/>
          </a:p>
        </p:txBody>
      </p:sp>
      <p:sp>
        <p:nvSpPr>
          <p:cNvPr id="29" name="Text 26"/>
          <p:cNvSpPr/>
          <p:nvPr/>
        </p:nvSpPr>
        <p:spPr>
          <a:xfrm>
            <a:off x="4553712" y="4114800"/>
            <a:ext cx="3108960" cy="621792"/>
          </a:xfrm>
          <a:prstGeom prst="rect">
            <a:avLst/>
          </a:prstGeom>
          <a:noFill/>
          <a:ln/>
        </p:spPr>
        <p:txBody>
          <a:bodyPr wrap="square" lIns="0" tIns="0" rIns="0" bIns="0" rtlCol="0" anchor="ctr"/>
          <a:lstStyle/>
          <a:p>
            <a:pPr indent="0" marL="0">
              <a:lnSpc>
                <a:spcPts val="1450"/>
              </a:lnSpc>
              <a:buNone/>
            </a:pPr>
            <a:r>
              <a:rPr lang="en-US" sz="1100" dirty="0">
                <a:solidFill>
                  <a:srgbClr val="8E99AE"/>
                </a:solidFill>
                <a:latin typeface="Calibri" pitchFamily="34" charset="0"/>
                <a:ea typeface="Calibri" pitchFamily="34" charset="-122"/>
                <a:cs typeface="Calibri" pitchFamily="34" charset="-120"/>
              </a:rPr>
              <a:t>start() awaited the reply on the same socket that had to read it. Backgrounded now.</a:t>
            </a:r>
            <a:endParaRPr lang="en-US" sz="1100" dirty="0"/>
          </a:p>
        </p:txBody>
      </p:sp>
      <p:sp>
        <p:nvSpPr>
          <p:cNvPr id="30" name="Shape 27"/>
          <p:cNvSpPr/>
          <p:nvPr/>
        </p:nvSpPr>
        <p:spPr>
          <a:xfrm>
            <a:off x="8065008" y="3401568"/>
            <a:ext cx="3566160" cy="1417320"/>
          </a:xfrm>
          <a:prstGeom prst="roundRect">
            <a:avLst>
              <a:gd name="adj" fmla="val 5161"/>
            </a:avLst>
          </a:prstGeom>
          <a:solidFill>
            <a:srgbClr val="1A202C"/>
          </a:solidFill>
          <a:ln w="6350">
            <a:solidFill>
              <a:srgbClr val="1A202C"/>
            </a:solidFill>
            <a:prstDash val="solid"/>
          </a:ln>
        </p:spPr>
      </p:sp>
      <p:sp>
        <p:nvSpPr>
          <p:cNvPr id="31" name="Shape 28"/>
          <p:cNvSpPr/>
          <p:nvPr/>
        </p:nvSpPr>
        <p:spPr>
          <a:xfrm>
            <a:off x="8302752" y="3621024"/>
            <a:ext cx="365760" cy="365760"/>
          </a:xfrm>
          <a:prstGeom prst="ellipse">
            <a:avLst/>
          </a:prstGeom>
          <a:solidFill>
            <a:srgbClr val="FF5C00"/>
          </a:solidFill>
          <a:ln w="6350">
            <a:solidFill>
              <a:srgbClr val="FF5C00"/>
            </a:solidFill>
            <a:prstDash val="solid"/>
          </a:ln>
        </p:spPr>
      </p:sp>
      <p:sp>
        <p:nvSpPr>
          <p:cNvPr id="32" name="Text 29"/>
          <p:cNvSpPr/>
          <p:nvPr/>
        </p:nvSpPr>
        <p:spPr>
          <a:xfrm>
            <a:off x="8302752" y="3621024"/>
            <a:ext cx="365760" cy="365760"/>
          </a:xfrm>
          <a:prstGeom prst="rect">
            <a:avLst/>
          </a:prstGeom>
          <a:noFill/>
          <a:ln/>
        </p:spPr>
        <p:txBody>
          <a:bodyPr wrap="square" lIns="0" tIns="0" rIns="0" bIns="0" rtlCol="0" anchor="ctr"/>
          <a:lstStyle/>
          <a:p>
            <a:pPr algn="ctr" indent="0" marL="0">
              <a:buNone/>
            </a:pPr>
            <a:r>
              <a:rPr lang="en-US" sz="1400" b="1" dirty="0">
                <a:solidFill>
                  <a:srgbClr val="0F1219"/>
                </a:solidFill>
                <a:latin typeface="Calibri" pitchFamily="34" charset="0"/>
                <a:ea typeface="Calibri" pitchFamily="34" charset="-122"/>
                <a:cs typeface="Calibri" pitchFamily="34" charset="-120"/>
              </a:rPr>
              <a:t>06</a:t>
            </a:r>
            <a:endParaRPr lang="en-US" sz="1400" dirty="0"/>
          </a:p>
        </p:txBody>
      </p:sp>
      <p:sp>
        <p:nvSpPr>
          <p:cNvPr id="33" name="Text 30"/>
          <p:cNvSpPr/>
          <p:nvPr/>
        </p:nvSpPr>
        <p:spPr>
          <a:xfrm>
            <a:off x="8759952" y="3602736"/>
            <a:ext cx="2651760" cy="420624"/>
          </a:xfrm>
          <a:prstGeom prst="rect">
            <a:avLst/>
          </a:prstGeom>
          <a:noFill/>
          <a:ln/>
        </p:spPr>
        <p:txBody>
          <a:bodyPr wrap="square" lIns="0" tIns="0" rIns="0" bIns="0" rtlCol="0" anchor="ctr"/>
          <a:lstStyle/>
          <a:p>
            <a:pPr indent="0" marL="0">
              <a:lnSpc>
                <a:spcPts val="1600"/>
              </a:lnSpc>
              <a:buNone/>
            </a:pPr>
            <a:r>
              <a:rPr lang="en-US" sz="1300" b="1" dirty="0">
                <a:solidFill>
                  <a:srgbClr val="EDF1F8"/>
                </a:solidFill>
                <a:latin typeface="Calibri" pitchFamily="34" charset="0"/>
                <a:ea typeface="Calibri" pitchFamily="34" charset="-122"/>
                <a:cs typeface="Calibri" pitchFamily="34" charset="-120"/>
              </a:rPr>
              <a:t>The search typed into a button</a:t>
            </a:r>
            <a:endParaRPr lang="en-US" sz="1300" dirty="0"/>
          </a:p>
        </p:txBody>
      </p:sp>
      <p:sp>
        <p:nvSpPr>
          <p:cNvPr id="34" name="Text 31"/>
          <p:cNvSpPr/>
          <p:nvPr/>
        </p:nvSpPr>
        <p:spPr>
          <a:xfrm>
            <a:off x="8302752" y="4114800"/>
            <a:ext cx="3108960" cy="621792"/>
          </a:xfrm>
          <a:prstGeom prst="rect">
            <a:avLst/>
          </a:prstGeom>
          <a:noFill/>
          <a:ln/>
        </p:spPr>
        <p:txBody>
          <a:bodyPr wrap="square" lIns="0" tIns="0" rIns="0" bIns="0" rtlCol="0" anchor="ctr"/>
          <a:lstStyle/>
          <a:p>
            <a:pPr indent="0" marL="0">
              <a:lnSpc>
                <a:spcPts val="1450"/>
              </a:lnSpc>
              <a:buNone/>
            </a:pPr>
            <a:r>
              <a:rPr lang="en-US" sz="1100" dirty="0">
                <a:solidFill>
                  <a:srgbClr val="8E99AE"/>
                </a:solidFill>
                <a:latin typeface="Calibri" pitchFamily="34" charset="0"/>
                <a:ea typeface="Calibri" pitchFamily="34" charset="-122"/>
                <a:cs typeface="Calibri" pitchFamily="34" charset="-120"/>
              </a:rPr>
              <a:t>YouTube's search box is a combobox. A fill now only considers editable roles — and verifies before typing.</a:t>
            </a:r>
            <a:endParaRPr lang="en-US" sz="1100" dirty="0"/>
          </a:p>
        </p:txBody>
      </p:sp>
      <p:sp>
        <p:nvSpPr>
          <p:cNvPr id="35" name="Text 32"/>
          <p:cNvSpPr/>
          <p:nvPr/>
        </p:nvSpPr>
        <p:spPr>
          <a:xfrm>
            <a:off x="566928" y="5138928"/>
            <a:ext cx="11064240" cy="457200"/>
          </a:xfrm>
          <a:prstGeom prst="rect">
            <a:avLst/>
          </a:prstGeom>
          <a:noFill/>
          <a:ln/>
        </p:spPr>
        <p:txBody>
          <a:bodyPr wrap="square" lIns="0" tIns="0" rIns="0" bIns="0" rtlCol="0" anchor="ctr"/>
          <a:lstStyle/>
          <a:p>
            <a:pPr indent="0" marL="0">
              <a:lnSpc>
                <a:spcPts val="1700"/>
              </a:lnSpc>
              <a:buNone/>
            </a:pPr>
            <a:r>
              <a:rPr lang="en-US" sz="1250" i="1" dirty="0">
                <a:solidFill>
                  <a:srgbClr val="8E99AE"/>
                </a:solidFill>
                <a:latin typeface="Calibri" pitchFamily="34" charset="0"/>
                <a:ea typeface="Calibri" pitchFamily="34" charset="-122"/>
                <a:cs typeface="Calibri" pitchFamily="34" charset="-120"/>
              </a:rPr>
              <a:t>Seventh: Chrome 136+ refuses the debug port on the default profile, and Chrome 151 rejects the CDP handshake without --enable-automation. Found by testing flags one at a time.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MEASURED, NOT ESTIMATED</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Every number here came out of a run</a:t>
            </a:r>
            <a:endParaRPr lang="en-US" sz="3400" dirty="0"/>
          </a:p>
        </p:txBody>
      </p:sp>
      <p:sp>
        <p:nvSpPr>
          <p:cNvPr id="5" name="Shape 2"/>
          <p:cNvSpPr/>
          <p:nvPr/>
        </p:nvSpPr>
        <p:spPr>
          <a:xfrm>
            <a:off x="566928" y="1874520"/>
            <a:ext cx="2697480" cy="1874520"/>
          </a:xfrm>
          <a:prstGeom prst="roundRect">
            <a:avLst>
              <a:gd name="adj" fmla="val 3902"/>
            </a:avLst>
          </a:prstGeom>
          <a:solidFill>
            <a:srgbClr val="1A202C"/>
          </a:solidFill>
          <a:ln w="6350">
            <a:solidFill>
              <a:srgbClr val="1A202C"/>
            </a:solidFill>
            <a:prstDash val="solid"/>
          </a:ln>
        </p:spPr>
      </p:sp>
      <p:sp>
        <p:nvSpPr>
          <p:cNvPr id="6" name="Text 3"/>
          <p:cNvSpPr/>
          <p:nvPr/>
        </p:nvSpPr>
        <p:spPr>
          <a:xfrm>
            <a:off x="795528" y="2057400"/>
            <a:ext cx="2240280" cy="777240"/>
          </a:xfrm>
          <a:prstGeom prst="rect">
            <a:avLst/>
          </a:prstGeom>
          <a:noFill/>
          <a:ln/>
        </p:spPr>
        <p:txBody>
          <a:bodyPr wrap="square" lIns="0" tIns="0" rIns="0" bIns="0" rtlCol="0" anchor="ctr"/>
          <a:lstStyle/>
          <a:p>
            <a:pPr indent="0" marL="0">
              <a:buNone/>
            </a:pPr>
            <a:r>
              <a:rPr lang="en-US" sz="4400" b="1" dirty="0">
                <a:solidFill>
                  <a:srgbClr val="FF5C00"/>
                </a:solidFill>
                <a:latin typeface="Cambria" pitchFamily="34" charset="0"/>
                <a:ea typeface="Cambria" pitchFamily="34" charset="-122"/>
                <a:cs typeface="Cambria" pitchFamily="34" charset="-120"/>
              </a:rPr>
              <a:t>2.7s</a:t>
            </a:r>
            <a:endParaRPr lang="en-US" sz="4400" dirty="0"/>
          </a:p>
        </p:txBody>
      </p:sp>
      <p:sp>
        <p:nvSpPr>
          <p:cNvPr id="7" name="Text 4"/>
          <p:cNvSpPr/>
          <p:nvPr/>
        </p:nvSpPr>
        <p:spPr>
          <a:xfrm>
            <a:off x="795528" y="2907792"/>
            <a:ext cx="2286000"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no browser →</a:t>
            </a:r>
            <a:endParaRPr lang="en-US" sz="1200" dirty="0"/>
          </a:p>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attached, on the product</a:t>
            </a:r>
            <a:endParaRPr lang="en-US" sz="1200" dirty="0"/>
          </a:p>
        </p:txBody>
      </p:sp>
      <p:sp>
        <p:nvSpPr>
          <p:cNvPr id="8" name="Shape 5"/>
          <p:cNvSpPr/>
          <p:nvPr/>
        </p:nvSpPr>
        <p:spPr>
          <a:xfrm>
            <a:off x="3355848" y="1874520"/>
            <a:ext cx="2697480" cy="1874520"/>
          </a:xfrm>
          <a:prstGeom prst="roundRect">
            <a:avLst>
              <a:gd name="adj" fmla="val 3902"/>
            </a:avLst>
          </a:prstGeom>
          <a:solidFill>
            <a:srgbClr val="1A202C"/>
          </a:solidFill>
          <a:ln w="6350">
            <a:solidFill>
              <a:srgbClr val="1A202C"/>
            </a:solidFill>
            <a:prstDash val="solid"/>
          </a:ln>
        </p:spPr>
      </p:sp>
      <p:sp>
        <p:nvSpPr>
          <p:cNvPr id="9" name="Text 6"/>
          <p:cNvSpPr/>
          <p:nvPr/>
        </p:nvSpPr>
        <p:spPr>
          <a:xfrm>
            <a:off x="3584448" y="2057400"/>
            <a:ext cx="2240280" cy="777240"/>
          </a:xfrm>
          <a:prstGeom prst="rect">
            <a:avLst/>
          </a:prstGeom>
          <a:noFill/>
          <a:ln/>
        </p:spPr>
        <p:txBody>
          <a:bodyPr wrap="square" lIns="0" tIns="0" rIns="0" bIns="0" rtlCol="0" anchor="ctr"/>
          <a:lstStyle/>
          <a:p>
            <a:pPr indent="0" marL="0">
              <a:buNone/>
            </a:pPr>
            <a:r>
              <a:rPr lang="en-US" sz="4400" b="1" dirty="0">
                <a:solidFill>
                  <a:srgbClr val="FF5C00"/>
                </a:solidFill>
                <a:latin typeface="Cambria" pitchFamily="34" charset="0"/>
                <a:ea typeface="Cambria" pitchFamily="34" charset="-122"/>
                <a:cs typeface="Cambria" pitchFamily="34" charset="-120"/>
              </a:rPr>
              <a:t>1.52s</a:t>
            </a:r>
            <a:endParaRPr lang="en-US" sz="4400" dirty="0"/>
          </a:p>
        </p:txBody>
      </p:sp>
      <p:sp>
        <p:nvSpPr>
          <p:cNvPr id="10" name="Text 7"/>
          <p:cNvSpPr/>
          <p:nvPr/>
        </p:nvSpPr>
        <p:spPr>
          <a:xfrm>
            <a:off x="3584448" y="2907792"/>
            <a:ext cx="2286000"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pause request →</a:t>
            </a:r>
            <a:endParaRPr lang="en-US" sz="1200" dirty="0"/>
          </a:p>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browser truly parked</a:t>
            </a:r>
            <a:endParaRPr lang="en-US" sz="1200" dirty="0"/>
          </a:p>
        </p:txBody>
      </p:sp>
      <p:sp>
        <p:nvSpPr>
          <p:cNvPr id="11" name="Shape 8"/>
          <p:cNvSpPr/>
          <p:nvPr/>
        </p:nvSpPr>
        <p:spPr>
          <a:xfrm>
            <a:off x="6144768" y="1874520"/>
            <a:ext cx="2697480" cy="1874520"/>
          </a:xfrm>
          <a:prstGeom prst="roundRect">
            <a:avLst>
              <a:gd name="adj" fmla="val 3902"/>
            </a:avLst>
          </a:prstGeom>
          <a:solidFill>
            <a:srgbClr val="1A202C"/>
          </a:solidFill>
          <a:ln w="6350">
            <a:solidFill>
              <a:srgbClr val="1A202C"/>
            </a:solidFill>
            <a:prstDash val="solid"/>
          </a:ln>
        </p:spPr>
      </p:sp>
      <p:sp>
        <p:nvSpPr>
          <p:cNvPr id="12" name="Text 9"/>
          <p:cNvSpPr/>
          <p:nvPr/>
        </p:nvSpPr>
        <p:spPr>
          <a:xfrm>
            <a:off x="6373368" y="2057400"/>
            <a:ext cx="2240280" cy="777240"/>
          </a:xfrm>
          <a:prstGeom prst="rect">
            <a:avLst/>
          </a:prstGeom>
          <a:noFill/>
          <a:ln/>
        </p:spPr>
        <p:txBody>
          <a:bodyPr wrap="square" lIns="0" tIns="0" rIns="0" bIns="0" rtlCol="0" anchor="ctr"/>
          <a:lstStyle/>
          <a:p>
            <a:pPr indent="0" marL="0">
              <a:buNone/>
            </a:pPr>
            <a:r>
              <a:rPr lang="en-US" sz="4400" b="1" dirty="0">
                <a:solidFill>
                  <a:srgbClr val="FF5C00"/>
                </a:solidFill>
                <a:latin typeface="Cambria" pitchFamily="34" charset="0"/>
                <a:ea typeface="Cambria" pitchFamily="34" charset="-122"/>
                <a:cs typeface="Cambria" pitchFamily="34" charset="-120"/>
              </a:rPr>
              <a:t>0</a:t>
            </a:r>
            <a:endParaRPr lang="en-US" sz="4400" dirty="0"/>
          </a:p>
        </p:txBody>
      </p:sp>
      <p:sp>
        <p:nvSpPr>
          <p:cNvPr id="13" name="Text 10"/>
          <p:cNvSpPr/>
          <p:nvPr/>
        </p:nvSpPr>
        <p:spPr>
          <a:xfrm>
            <a:off x="6373368" y="2907792"/>
            <a:ext cx="2286000"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actions started</a:t>
            </a:r>
            <a:endParaRPr lang="en-US" sz="1200" dirty="0"/>
          </a:p>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after parked</a:t>
            </a:r>
            <a:endParaRPr lang="en-US" sz="1200" dirty="0"/>
          </a:p>
        </p:txBody>
      </p:sp>
      <p:sp>
        <p:nvSpPr>
          <p:cNvPr id="14" name="Shape 11"/>
          <p:cNvSpPr/>
          <p:nvPr/>
        </p:nvSpPr>
        <p:spPr>
          <a:xfrm>
            <a:off x="8933688" y="1874520"/>
            <a:ext cx="2697480" cy="1874520"/>
          </a:xfrm>
          <a:prstGeom prst="roundRect">
            <a:avLst>
              <a:gd name="adj" fmla="val 3902"/>
            </a:avLst>
          </a:prstGeom>
          <a:solidFill>
            <a:srgbClr val="1A202C"/>
          </a:solidFill>
          <a:ln w="6350">
            <a:solidFill>
              <a:srgbClr val="1A202C"/>
            </a:solidFill>
            <a:prstDash val="solid"/>
          </a:ln>
        </p:spPr>
      </p:sp>
      <p:sp>
        <p:nvSpPr>
          <p:cNvPr id="15" name="Text 12"/>
          <p:cNvSpPr/>
          <p:nvPr/>
        </p:nvSpPr>
        <p:spPr>
          <a:xfrm>
            <a:off x="9162288" y="2057400"/>
            <a:ext cx="2240280" cy="777240"/>
          </a:xfrm>
          <a:prstGeom prst="rect">
            <a:avLst/>
          </a:prstGeom>
          <a:noFill/>
          <a:ln/>
        </p:spPr>
        <p:txBody>
          <a:bodyPr wrap="square" lIns="0" tIns="0" rIns="0" bIns="0" rtlCol="0" anchor="ctr"/>
          <a:lstStyle/>
          <a:p>
            <a:pPr indent="0" marL="0">
              <a:buNone/>
            </a:pPr>
            <a:r>
              <a:rPr lang="en-US" sz="4400" b="1" dirty="0">
                <a:solidFill>
                  <a:srgbClr val="FF5C00"/>
                </a:solidFill>
                <a:latin typeface="Cambria" pitchFamily="34" charset="0"/>
                <a:ea typeface="Cambria" pitchFamily="34" charset="-122"/>
                <a:cs typeface="Cambria" pitchFamily="34" charset="-120"/>
              </a:rPr>
              <a:t>25</a:t>
            </a:r>
            <a:endParaRPr lang="en-US" sz="4400" dirty="0"/>
          </a:p>
        </p:txBody>
      </p:sp>
      <p:sp>
        <p:nvSpPr>
          <p:cNvPr id="16" name="Text 13"/>
          <p:cNvSpPr/>
          <p:nvPr/>
        </p:nvSpPr>
        <p:spPr>
          <a:xfrm>
            <a:off x="9162288" y="2907792"/>
            <a:ext cx="2286000" cy="68580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hermetic tests,</a:t>
            </a:r>
            <a:endParaRPr lang="en-US" sz="1200" dirty="0"/>
          </a:p>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passing in 2.7s</a:t>
            </a:r>
            <a:endParaRPr lang="en-US" sz="1200" dirty="0"/>
          </a:p>
        </p:txBody>
      </p:sp>
      <p:sp>
        <p:nvSpPr>
          <p:cNvPr id="17" name="Shape 14"/>
          <p:cNvSpPr/>
          <p:nvPr/>
        </p:nvSpPr>
        <p:spPr>
          <a:xfrm>
            <a:off x="566928" y="4023360"/>
            <a:ext cx="5440680" cy="1965960"/>
          </a:xfrm>
          <a:prstGeom prst="roundRect">
            <a:avLst>
              <a:gd name="adj" fmla="val 3721"/>
            </a:avLst>
          </a:prstGeom>
          <a:solidFill>
            <a:srgbClr val="232B3A"/>
          </a:solidFill>
          <a:ln w="6350">
            <a:solidFill>
              <a:srgbClr val="232B3A"/>
            </a:solidFill>
            <a:prstDash val="solid"/>
          </a:ln>
        </p:spPr>
      </p:sp>
      <p:sp>
        <p:nvSpPr>
          <p:cNvPr id="18" name="Text 15"/>
          <p:cNvSpPr/>
          <p:nvPr/>
        </p:nvSpPr>
        <p:spPr>
          <a:xfrm>
            <a:off x="859536" y="4224528"/>
            <a:ext cx="4846320" cy="292608"/>
          </a:xfrm>
          <a:prstGeom prst="rect">
            <a:avLst/>
          </a:prstGeom>
          <a:noFill/>
          <a:ln/>
        </p:spPr>
        <p:txBody>
          <a:bodyPr wrap="square" lIns="0" tIns="0" rIns="0" bIns="0" rtlCol="0" anchor="ctr"/>
          <a:lstStyle/>
          <a:p>
            <a:pPr indent="0" marL="0">
              <a:buNone/>
            </a:pPr>
            <a:r>
              <a:rPr lang="en-US" sz="1500" b="1" dirty="0">
                <a:solidFill>
                  <a:srgbClr val="EDF1F8"/>
                </a:solidFill>
                <a:latin typeface="Calibri" pitchFamily="34" charset="0"/>
                <a:ea typeface="Calibri" pitchFamily="34" charset="-122"/>
                <a:cs typeface="Calibri" pitchFamily="34" charset="-120"/>
              </a:rPr>
              <a:t>Pause is slow on purpose</a:t>
            </a:r>
            <a:endParaRPr lang="en-US" sz="1500" dirty="0"/>
          </a:p>
        </p:txBody>
      </p:sp>
      <p:sp>
        <p:nvSpPr>
          <p:cNvPr id="19" name="Text 16"/>
          <p:cNvSpPr/>
          <p:nvPr/>
        </p:nvSpPr>
        <p:spPr>
          <a:xfrm>
            <a:off x="859536" y="4572000"/>
            <a:ext cx="4892040" cy="1280160"/>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An action already in flight runs to completion — cancelling mid-action would leave a half-typed field on screen in front of the customer. The UI reads PAUSING while the browser settles, and only flips to PAUSED once it has actually stopped.</a:t>
            </a:r>
            <a:endParaRPr lang="en-US" sz="1250" dirty="0"/>
          </a:p>
        </p:txBody>
      </p:sp>
      <p:sp>
        <p:nvSpPr>
          <p:cNvPr id="20" name="Shape 17"/>
          <p:cNvSpPr/>
          <p:nvPr/>
        </p:nvSpPr>
        <p:spPr>
          <a:xfrm>
            <a:off x="6263640" y="4023360"/>
            <a:ext cx="5349240" cy="1965960"/>
          </a:xfrm>
          <a:prstGeom prst="roundRect">
            <a:avLst>
              <a:gd name="adj" fmla="val 3721"/>
            </a:avLst>
          </a:prstGeom>
          <a:solidFill>
            <a:srgbClr val="232B3A"/>
          </a:solidFill>
          <a:ln w="6350">
            <a:solidFill>
              <a:srgbClr val="232B3A"/>
            </a:solidFill>
            <a:prstDash val="solid"/>
          </a:ln>
        </p:spPr>
      </p:sp>
      <p:sp>
        <p:nvSpPr>
          <p:cNvPr id="21" name="Text 18"/>
          <p:cNvSpPr/>
          <p:nvPr/>
        </p:nvSpPr>
        <p:spPr>
          <a:xfrm>
            <a:off x="6556248" y="4224528"/>
            <a:ext cx="4754880" cy="292608"/>
          </a:xfrm>
          <a:prstGeom prst="rect">
            <a:avLst/>
          </a:prstGeom>
          <a:noFill/>
          <a:ln/>
        </p:spPr>
        <p:txBody>
          <a:bodyPr wrap="square" lIns="0" tIns="0" rIns="0" bIns="0" rtlCol="0" anchor="ctr"/>
          <a:lstStyle/>
          <a:p>
            <a:pPr indent="0" marL="0">
              <a:buNone/>
            </a:pPr>
            <a:r>
              <a:rPr lang="en-US" sz="1500" b="1" dirty="0">
                <a:solidFill>
                  <a:srgbClr val="EDF1F8"/>
                </a:solidFill>
                <a:latin typeface="Calibri" pitchFamily="34" charset="0"/>
                <a:ea typeface="Calibri" pitchFamily="34" charset="-122"/>
                <a:cs typeface="Calibri" pitchFamily="34" charset="-120"/>
              </a:rPr>
              <a:t>The two-minute demo, timed</a:t>
            </a:r>
            <a:endParaRPr lang="en-US" sz="1500" dirty="0"/>
          </a:p>
        </p:txBody>
      </p:sp>
      <p:sp>
        <p:nvSpPr>
          <p:cNvPr id="22" name="Shape 19"/>
          <p:cNvSpPr/>
          <p:nvPr/>
        </p:nvSpPr>
        <p:spPr>
          <a:xfrm>
            <a:off x="6556248" y="4572000"/>
            <a:ext cx="4754880" cy="1084326"/>
          </a:xfrm>
          <a:prstGeom prst="roundRect">
            <a:avLst>
              <a:gd name="adj" fmla="val 4216"/>
            </a:avLst>
          </a:prstGeom>
          <a:solidFill>
            <a:srgbClr val="0A0D13"/>
          </a:solidFill>
          <a:ln w="12700">
            <a:solidFill>
              <a:srgbClr val="232B3A"/>
            </a:solidFill>
            <a:prstDash val="solid"/>
          </a:ln>
        </p:spPr>
      </p:sp>
      <p:sp>
        <p:nvSpPr>
          <p:cNvPr id="23" name="Text 20"/>
          <p:cNvSpPr/>
          <p:nvPr/>
        </p:nvSpPr>
        <p:spPr>
          <a:xfrm>
            <a:off x="6757416" y="4718304"/>
            <a:ext cx="4352544" cy="791718"/>
          </a:xfrm>
          <a:prstGeom prst="rect">
            <a:avLst/>
          </a:prstGeom>
          <a:noFill/>
          <a:ln/>
        </p:spPr>
        <p:txBody>
          <a:bodyPr wrap="square" lIns="0" tIns="0" rIns="0" bIns="0" rtlCol="0" anchor="t"/>
          <a:lstStyle/>
          <a:p>
            <a:pPr indent="0" marL="0">
              <a:lnSpc>
                <a:spcPts val="1523"/>
              </a:lnSpc>
              <a:buNone/>
            </a:pPr>
            <a:r>
              <a:rPr lang="en-US" sz="1050" dirty="0">
                <a:solidFill>
                  <a:srgbClr val="B9C4D6"/>
                </a:solidFill>
                <a:latin typeface="Courier New" pitchFamily="34" charset="0"/>
                <a:ea typeface="Courier New" pitchFamily="34" charset="-122"/>
                <a:cs typeface="Courier New" pitchFamily="34" charset="-120"/>
              </a:rPr>
              <a:t>22.6s  step 1 done -&gt; "Any questions?"</a:t>
            </a:r>
            <a:endParaRPr lang="en-US" sz="1050" dirty="0"/>
          </a:p>
          <a:p>
            <a:pPr indent="0" marL="0">
              <a:lnSpc>
                <a:spcPts val="1523"/>
              </a:lnSpc>
              <a:buNone/>
            </a:pPr>
            <a:r>
              <a:rPr lang="en-US" sz="1050" dirty="0">
                <a:solidFill>
                  <a:srgbClr val="B9C4D6"/>
                </a:solidFill>
                <a:latin typeface="Courier New" pitchFamily="34" charset="0"/>
                <a:ea typeface="Courier New" pitchFamily="34" charset="-122"/>
                <a:cs typeface="Courier New" pitchFamily="34" charset="-120"/>
              </a:rPr>
              <a:t>27.6s  answered; window restarts</a:t>
            </a:r>
            <a:endParaRPr lang="en-US" sz="1050" dirty="0"/>
          </a:p>
          <a:p>
            <a:pPr indent="0" marL="0">
              <a:lnSpc>
                <a:spcPts val="1523"/>
              </a:lnSpc>
              <a:buNone/>
            </a:pPr>
            <a:r>
              <a:rPr lang="en-US" sz="1050" dirty="0">
                <a:solidFill>
                  <a:srgbClr val="B9C4D6"/>
                </a:solidFill>
                <a:latin typeface="Courier New" pitchFamily="34" charset="0"/>
                <a:ea typeface="Courier New" pitchFamily="34" charset="-122"/>
                <a:cs typeface="Courier New" pitchFamily="34" charset="-120"/>
              </a:rPr>
              <a:t>67.0s  "Any questions before we wrap up?"</a:t>
            </a:r>
            <a:endParaRPr lang="en-US" sz="1050" dirty="0"/>
          </a:p>
          <a:p>
            <a:pPr indent="0" marL="0">
              <a:lnSpc>
                <a:spcPts val="1523"/>
              </a:lnSpc>
              <a:buNone/>
            </a:pPr>
            <a:r>
              <a:rPr lang="en-US" sz="1050" dirty="0">
                <a:solidFill>
                  <a:srgbClr val="B9C4D6"/>
                </a:solidFill>
                <a:latin typeface="Courier New" pitchFamily="34" charset="0"/>
                <a:ea typeface="Courier New" pitchFamily="34" charset="-122"/>
                <a:cs typeface="Courier New" pitchFamily="34" charset="-120"/>
              </a:rPr>
              <a:t>87.1s  [complete]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HARNESS INTEGRATION</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A demo script becomes shared infrastructure</a:t>
            </a:r>
            <a:endParaRPr lang="en-US" sz="3400" dirty="0"/>
          </a:p>
        </p:txBody>
      </p:sp>
      <p:sp>
        <p:nvSpPr>
          <p:cNvPr id="5" name="Shape 2"/>
          <p:cNvSpPr/>
          <p:nvPr/>
        </p:nvSpPr>
        <p:spPr>
          <a:xfrm>
            <a:off x="566928" y="1828800"/>
            <a:ext cx="11064240" cy="960120"/>
          </a:xfrm>
          <a:prstGeom prst="roundRect">
            <a:avLst>
              <a:gd name="adj" fmla="val 7619"/>
            </a:avLst>
          </a:prstGeom>
          <a:solidFill>
            <a:srgbClr val="1A202C"/>
          </a:solidFill>
          <a:ln w="6350">
            <a:solidFill>
              <a:srgbClr val="1A202C"/>
            </a:solidFill>
            <a:prstDash val="solid"/>
          </a:ln>
        </p:spPr>
      </p:sp>
      <p:sp>
        <p:nvSpPr>
          <p:cNvPr id="6" name="Text 3"/>
          <p:cNvSpPr/>
          <p:nvPr/>
        </p:nvSpPr>
        <p:spPr>
          <a:xfrm>
            <a:off x="859536" y="1975104"/>
            <a:ext cx="3931920" cy="274320"/>
          </a:xfrm>
          <a:prstGeom prst="rect">
            <a:avLst/>
          </a:prstGeom>
          <a:noFill/>
          <a:ln/>
        </p:spPr>
        <p:txBody>
          <a:bodyPr wrap="square" lIns="0" tIns="0" rIns="0" bIns="0" rtlCol="0" anchor="ctr"/>
          <a:lstStyle/>
          <a:p>
            <a:pPr indent="0" marL="0">
              <a:buNone/>
            </a:pPr>
            <a:r>
              <a:rPr lang="en-US" sz="1250" b="1" dirty="0">
                <a:solidFill>
                  <a:srgbClr val="FF5C00"/>
                </a:solidFill>
                <a:latin typeface="Courier New" pitchFamily="34" charset="0"/>
                <a:ea typeface="Courier New" pitchFamily="34" charset="-122"/>
                <a:cs typeface="Courier New" pitchFamily="34" charset="-120"/>
              </a:rPr>
              <a:t>walkthrough-agent-skill.yaml</a:t>
            </a:r>
            <a:endParaRPr lang="en-US" sz="1250" dirty="0"/>
          </a:p>
        </p:txBody>
      </p:sp>
      <p:sp>
        <p:nvSpPr>
          <p:cNvPr id="7" name="Text 4"/>
          <p:cNvSpPr/>
          <p:nvPr/>
        </p:nvSpPr>
        <p:spPr>
          <a:xfrm>
            <a:off x="859536" y="2286000"/>
            <a:ext cx="10424160" cy="457200"/>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Worker Agent Skill: trigger phrases, four-phase instructions (targeting, planning, execution, interruption), RBAC, audit capture, derived allowlist, denied actions</a:t>
            </a:r>
            <a:endParaRPr lang="en-US" sz="1250" dirty="0"/>
          </a:p>
        </p:txBody>
      </p:sp>
      <p:sp>
        <p:nvSpPr>
          <p:cNvPr id="8" name="Shape 5"/>
          <p:cNvSpPr/>
          <p:nvPr/>
        </p:nvSpPr>
        <p:spPr>
          <a:xfrm>
            <a:off x="566928" y="2907792"/>
            <a:ext cx="11064240" cy="960120"/>
          </a:xfrm>
          <a:prstGeom prst="roundRect">
            <a:avLst>
              <a:gd name="adj" fmla="val 7619"/>
            </a:avLst>
          </a:prstGeom>
          <a:solidFill>
            <a:srgbClr val="1A202C"/>
          </a:solidFill>
          <a:ln w="6350">
            <a:solidFill>
              <a:srgbClr val="1A202C"/>
            </a:solidFill>
            <a:prstDash val="solid"/>
          </a:ln>
        </p:spPr>
      </p:sp>
      <p:sp>
        <p:nvSpPr>
          <p:cNvPr id="9" name="Text 6"/>
          <p:cNvSpPr/>
          <p:nvPr/>
        </p:nvSpPr>
        <p:spPr>
          <a:xfrm>
            <a:off x="859536" y="3054096"/>
            <a:ext cx="3931920" cy="274320"/>
          </a:xfrm>
          <a:prstGeom prst="rect">
            <a:avLst/>
          </a:prstGeom>
          <a:noFill/>
          <a:ln/>
        </p:spPr>
        <p:txBody>
          <a:bodyPr wrap="square" lIns="0" tIns="0" rIns="0" bIns="0" rtlCol="0" anchor="ctr"/>
          <a:lstStyle/>
          <a:p>
            <a:pPr indent="0" marL="0">
              <a:buNone/>
            </a:pPr>
            <a:r>
              <a:rPr lang="en-US" sz="1250" b="1" dirty="0">
                <a:solidFill>
                  <a:srgbClr val="FF5C00"/>
                </a:solidFill>
                <a:latin typeface="Courier New" pitchFamily="34" charset="0"/>
                <a:ea typeface="Courier New" pitchFamily="34" charset="-122"/>
                <a:cs typeface="Courier New" pitchFamily="34" charset="-120"/>
              </a:rPr>
              <a:t>pipeline.yaml</a:t>
            </a:r>
            <a:endParaRPr lang="en-US" sz="1250" dirty="0"/>
          </a:p>
        </p:txBody>
      </p:sp>
      <p:sp>
        <p:nvSpPr>
          <p:cNvPr id="10" name="Text 7"/>
          <p:cNvSpPr/>
          <p:nvPr/>
        </p:nvSpPr>
        <p:spPr>
          <a:xfrm>
            <a:off x="859536" y="3364992"/>
            <a:ext cx="10424160" cy="457200"/>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Build &amp; Test → Register Skill → Deploy, with StageRollback on failure</a:t>
            </a:r>
            <a:endParaRPr lang="en-US" sz="1250" dirty="0"/>
          </a:p>
        </p:txBody>
      </p:sp>
      <p:sp>
        <p:nvSpPr>
          <p:cNvPr id="11" name="Shape 8"/>
          <p:cNvSpPr/>
          <p:nvPr/>
        </p:nvSpPr>
        <p:spPr>
          <a:xfrm>
            <a:off x="566928" y="3986784"/>
            <a:ext cx="11064240" cy="960120"/>
          </a:xfrm>
          <a:prstGeom prst="roundRect">
            <a:avLst>
              <a:gd name="adj" fmla="val 7619"/>
            </a:avLst>
          </a:prstGeom>
          <a:solidFill>
            <a:srgbClr val="1A202C"/>
          </a:solidFill>
          <a:ln w="6350">
            <a:solidFill>
              <a:srgbClr val="1A202C"/>
            </a:solidFill>
            <a:prstDash val="solid"/>
          </a:ln>
        </p:spPr>
      </p:sp>
      <p:sp>
        <p:nvSpPr>
          <p:cNvPr id="12" name="Text 9"/>
          <p:cNvSpPr/>
          <p:nvPr/>
        </p:nvSpPr>
        <p:spPr>
          <a:xfrm>
            <a:off x="859536" y="4133088"/>
            <a:ext cx="3931920" cy="274320"/>
          </a:xfrm>
          <a:prstGeom prst="rect">
            <a:avLst/>
          </a:prstGeom>
          <a:noFill/>
          <a:ln/>
        </p:spPr>
        <p:txBody>
          <a:bodyPr wrap="square" lIns="0" tIns="0" rIns="0" bIns="0" rtlCol="0" anchor="ctr"/>
          <a:lstStyle/>
          <a:p>
            <a:pPr indent="0" marL="0">
              <a:buNone/>
            </a:pPr>
            <a:r>
              <a:rPr lang="en-US" sz="1250" b="1" dirty="0">
                <a:solidFill>
                  <a:srgbClr val="FF5C00"/>
                </a:solidFill>
                <a:latin typeface="Courier New" pitchFamily="34" charset="0"/>
                <a:ea typeface="Courier New" pitchFamily="34" charset="-122"/>
                <a:cs typeface="Courier New" pitchFamily="34" charset="-120"/>
              </a:rPr>
              <a:t>rollback-policy.yaml</a:t>
            </a:r>
            <a:endParaRPr lang="en-US" sz="1250" dirty="0"/>
          </a:p>
        </p:txBody>
      </p:sp>
      <p:sp>
        <p:nvSpPr>
          <p:cNvPr id="13" name="Text 10"/>
          <p:cNvSpPr/>
          <p:nvPr/>
        </p:nvSpPr>
        <p:spPr>
          <a:xfrm>
            <a:off x="859536" y="4443984"/>
            <a:ext cx="10424160" cy="457200"/>
          </a:xfrm>
          <a:prstGeom prst="rect">
            <a:avLst/>
          </a:prstGeom>
          <a:noFill/>
          <a:ln/>
        </p:spPr>
        <p:txBody>
          <a:bodyPr wrap="square" lIns="0" tIns="0" rIns="0" bIns="0" rtlCol="0" anchor="ctr"/>
          <a:lstStyle/>
          <a:p>
            <a:pPr indent="0" marL="0">
              <a:lnSpc>
                <a:spcPts val="1700"/>
              </a:lnSpc>
              <a:buNone/>
            </a:pPr>
            <a:r>
              <a:rPr lang="en-US" sz="1250" dirty="0">
                <a:solidFill>
                  <a:srgbClr val="8E99AE"/>
                </a:solidFill>
                <a:latin typeface="Calibri" pitchFamily="34" charset="0"/>
                <a:ea typeface="Calibri" pitchFamily="34" charset="-122"/>
                <a:cs typeface="Calibri" pitchFamily="34" charset="-120"/>
              </a:rPr>
              <a:t>Rollback triggers, session version pinning, approval gates</a:t>
            </a:r>
            <a:endParaRPr lang="en-US" sz="1250" dirty="0"/>
          </a:p>
        </p:txBody>
      </p:sp>
      <p:sp>
        <p:nvSpPr>
          <p:cNvPr id="14" name="Shape 11"/>
          <p:cNvSpPr/>
          <p:nvPr/>
        </p:nvSpPr>
        <p:spPr>
          <a:xfrm>
            <a:off x="566928" y="5120640"/>
            <a:ext cx="11064240" cy="1051560"/>
          </a:xfrm>
          <a:prstGeom prst="roundRect">
            <a:avLst>
              <a:gd name="adj" fmla="val 6957"/>
            </a:avLst>
          </a:prstGeom>
          <a:solidFill>
            <a:srgbClr val="3A2010"/>
          </a:solidFill>
          <a:ln w="6350">
            <a:solidFill>
              <a:srgbClr val="3A2010"/>
            </a:solidFill>
            <a:prstDash val="solid"/>
          </a:ln>
        </p:spPr>
      </p:sp>
      <p:sp>
        <p:nvSpPr>
          <p:cNvPr id="15" name="Text 12"/>
          <p:cNvSpPr/>
          <p:nvPr/>
        </p:nvSpPr>
        <p:spPr>
          <a:xfrm>
            <a:off x="859536" y="5266944"/>
            <a:ext cx="4114800" cy="274320"/>
          </a:xfrm>
          <a:prstGeom prst="rect">
            <a:avLst/>
          </a:prstGeom>
          <a:noFill/>
          <a:ln/>
        </p:spPr>
        <p:txBody>
          <a:bodyPr wrap="square" lIns="0" tIns="0" rIns="0" bIns="0" rtlCol="0" anchor="ctr"/>
          <a:lstStyle/>
          <a:p>
            <a:pPr indent="0" marL="0">
              <a:buNone/>
            </a:pPr>
            <a:r>
              <a:rPr lang="en-US" sz="1400" b="1" dirty="0">
                <a:solidFill>
                  <a:srgbClr val="FF5C00"/>
                </a:solidFill>
                <a:latin typeface="Calibri" pitchFamily="34" charset="0"/>
                <a:ea typeface="Calibri" pitchFamily="34" charset="-122"/>
                <a:cs typeface="Calibri" pitchFamily="34" charset="-120"/>
              </a:rPr>
              <a:t>The gate is the guarantee</a:t>
            </a:r>
            <a:endParaRPr lang="en-US" sz="1400" dirty="0"/>
          </a:p>
        </p:txBody>
      </p:sp>
      <p:sp>
        <p:nvSpPr>
          <p:cNvPr id="16" name="Text 13"/>
          <p:cNvSpPr/>
          <p:nvPr/>
        </p:nvSpPr>
        <p:spPr>
          <a:xfrm>
            <a:off x="859536" y="5559552"/>
            <a:ext cx="10424160" cy="502920"/>
          </a:xfrm>
          <a:prstGeom prst="rect">
            <a:avLst/>
          </a:prstGeom>
          <a:noFill/>
          <a:ln/>
        </p:spPr>
        <p:txBody>
          <a:bodyPr wrap="square" lIns="0" tIns="0" rIns="0" bIns="0" rtlCol="0" anchor="ctr"/>
          <a:lstStyle/>
          <a:p>
            <a:pPr indent="0" marL="0">
              <a:lnSpc>
                <a:spcPts val="1700"/>
              </a:lnSpc>
              <a:buNone/>
            </a:pPr>
            <a:r>
              <a:rPr lang="en-US" sz="1250" dirty="0">
                <a:solidFill>
                  <a:srgbClr val="EDF1F8"/>
                </a:solidFill>
                <a:latin typeface="Calibri" pitchFamily="34" charset="0"/>
                <a:ea typeface="Calibri" pitchFamily="34" charset="-122"/>
                <a:cs typeface="Calibri" pitchFamily="34" charset="-120"/>
              </a:rPr>
              <a:t>CI blocks the deploy on the pause/resume suite, and the rollback policy watches for stuck-pause — a session that paused for a question and never resumed. That is a browser frozen mid-sentence in front of a customer.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219"/>
        </a:solidFill>
      </p:bgPr>
    </p:bg>
    <p:spTree>
      <p:nvGrpSpPr>
        <p:cNvPr id="1" name=""/>
        <p:cNvGrpSpPr/>
        <p:nvPr/>
      </p:nvGrpSpPr>
      <p:grpSpPr>
        <a:xfrm>
          <a:off x="0" y="0"/>
          <a:ext cx="0" cy="0"/>
          <a:chOff x="0" y="0"/>
          <a:chExt cx="0" cy="0"/>
        </a:xfrm>
      </p:grpSpPr>
      <p:sp>
        <p:nvSpPr>
          <p:cNvPr id="3" name="Text 0"/>
          <p:cNvSpPr/>
          <p:nvPr/>
        </p:nvSpPr>
        <p:spPr>
          <a:xfrm>
            <a:off x="566928" y="457200"/>
            <a:ext cx="8229600" cy="274320"/>
          </a:xfrm>
          <a:prstGeom prst="rect">
            <a:avLst/>
          </a:prstGeom>
          <a:noFill/>
          <a:ln/>
        </p:spPr>
        <p:txBody>
          <a:bodyPr wrap="square" lIns="0" tIns="0" rIns="0" bIns="0" rtlCol="0" anchor="ctr"/>
          <a:lstStyle/>
          <a:p>
            <a:pPr indent="0" marL="0">
              <a:buNone/>
            </a:pPr>
            <a:r>
              <a:rPr lang="en-US" sz="1100" b="1" spc="200" kern="0" dirty="0">
                <a:solidFill>
                  <a:srgbClr val="FF5C00"/>
                </a:solidFill>
                <a:latin typeface="Calibri" pitchFamily="34" charset="0"/>
                <a:ea typeface="Calibri" pitchFamily="34" charset="-122"/>
                <a:cs typeface="Calibri" pitchFamily="34" charset="-120"/>
              </a:rPr>
              <a:t>IN CLOSING</a:t>
            </a:r>
            <a:endParaRPr lang="en-US" sz="1100" dirty="0"/>
          </a:p>
        </p:txBody>
      </p:sp>
      <p:sp>
        <p:nvSpPr>
          <p:cNvPr id="4" name="Text 1"/>
          <p:cNvSpPr/>
          <p:nvPr/>
        </p:nvSpPr>
        <p:spPr>
          <a:xfrm>
            <a:off x="566928" y="768096"/>
            <a:ext cx="10607040" cy="658368"/>
          </a:xfrm>
          <a:prstGeom prst="rect">
            <a:avLst/>
          </a:prstGeom>
          <a:noFill/>
          <a:ln/>
        </p:spPr>
        <p:txBody>
          <a:bodyPr wrap="square" lIns="0" tIns="0" rIns="0" bIns="0" rtlCol="0" anchor="t"/>
          <a:lstStyle/>
          <a:p>
            <a:pPr indent="0" marL="0">
              <a:lnSpc>
                <a:spcPts val="3944"/>
              </a:lnSpc>
              <a:buNone/>
            </a:pPr>
            <a:r>
              <a:rPr lang="en-US" sz="3400" b="1" dirty="0">
                <a:solidFill>
                  <a:srgbClr val="EDF1F8"/>
                </a:solidFill>
                <a:latin typeface="Cambria" pitchFamily="34" charset="0"/>
                <a:ea typeface="Cambria" pitchFamily="34" charset="-122"/>
                <a:cs typeface="Cambria" pitchFamily="34" charset="-120"/>
              </a:rPr>
              <a:t>Three claims, and what I can't yet claim</a:t>
            </a:r>
            <a:endParaRPr lang="en-US" sz="3400" dirty="0"/>
          </a:p>
        </p:txBody>
      </p:sp>
      <p:sp>
        <p:nvSpPr>
          <p:cNvPr id="5" name="Shape 2"/>
          <p:cNvSpPr/>
          <p:nvPr/>
        </p:nvSpPr>
        <p:spPr>
          <a:xfrm>
            <a:off x="566928" y="1783080"/>
            <a:ext cx="3566160" cy="1691640"/>
          </a:xfrm>
          <a:prstGeom prst="roundRect">
            <a:avLst>
              <a:gd name="adj" fmla="val 4324"/>
            </a:avLst>
          </a:prstGeom>
          <a:solidFill>
            <a:srgbClr val="1A202C"/>
          </a:solidFill>
          <a:ln w="6350">
            <a:solidFill>
              <a:srgbClr val="1A202C"/>
            </a:solidFill>
            <a:prstDash val="solid"/>
          </a:ln>
        </p:spPr>
      </p:sp>
      <p:sp>
        <p:nvSpPr>
          <p:cNvPr id="6" name="Text 3"/>
          <p:cNvSpPr/>
          <p:nvPr/>
        </p:nvSpPr>
        <p:spPr>
          <a:xfrm>
            <a:off x="822960" y="1993392"/>
            <a:ext cx="3063240" cy="566928"/>
          </a:xfrm>
          <a:prstGeom prst="rect">
            <a:avLst/>
          </a:prstGeom>
          <a:noFill/>
          <a:ln/>
        </p:spPr>
        <p:txBody>
          <a:bodyPr wrap="square" lIns="0" tIns="0" rIns="0" bIns="0" rtlCol="0" anchor="ctr"/>
          <a:lstStyle/>
          <a:p>
            <a:pPr indent="0" marL="0">
              <a:lnSpc>
                <a:spcPts val="2000"/>
              </a:lnSpc>
              <a:buNone/>
            </a:pPr>
            <a:r>
              <a:rPr lang="en-US" sz="1500" b="1" dirty="0">
                <a:solidFill>
                  <a:srgbClr val="FF5C00"/>
                </a:solidFill>
                <a:latin typeface="Calibri" pitchFamily="34" charset="0"/>
                <a:ea typeface="Calibri" pitchFamily="34" charset="-122"/>
                <a:cs typeface="Calibri" pitchFamily="34" charset="-120"/>
              </a:rPr>
              <a:t>Interruption is the product</a:t>
            </a:r>
            <a:endParaRPr lang="en-US" sz="1500" dirty="0"/>
          </a:p>
        </p:txBody>
      </p:sp>
      <p:sp>
        <p:nvSpPr>
          <p:cNvPr id="7" name="Text 4"/>
          <p:cNvSpPr/>
          <p:nvPr/>
        </p:nvSpPr>
        <p:spPr>
          <a:xfrm>
            <a:off x="822960" y="2578608"/>
            <a:ext cx="3063240" cy="77724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Gate checked between actions, not steps. Resume continues the same step — asserted by test, not by README.</a:t>
            </a:r>
            <a:endParaRPr lang="en-US" sz="1200" dirty="0"/>
          </a:p>
        </p:txBody>
      </p:sp>
      <p:sp>
        <p:nvSpPr>
          <p:cNvPr id="8" name="Shape 5"/>
          <p:cNvSpPr/>
          <p:nvPr/>
        </p:nvSpPr>
        <p:spPr>
          <a:xfrm>
            <a:off x="4315968" y="1783080"/>
            <a:ext cx="3566160" cy="1691640"/>
          </a:xfrm>
          <a:prstGeom prst="roundRect">
            <a:avLst>
              <a:gd name="adj" fmla="val 4324"/>
            </a:avLst>
          </a:prstGeom>
          <a:solidFill>
            <a:srgbClr val="1A202C"/>
          </a:solidFill>
          <a:ln w="6350">
            <a:solidFill>
              <a:srgbClr val="1A202C"/>
            </a:solidFill>
            <a:prstDash val="solid"/>
          </a:ln>
        </p:spPr>
      </p:sp>
      <p:sp>
        <p:nvSpPr>
          <p:cNvPr id="9" name="Text 6"/>
          <p:cNvSpPr/>
          <p:nvPr/>
        </p:nvSpPr>
        <p:spPr>
          <a:xfrm>
            <a:off x="4572000" y="1993392"/>
            <a:ext cx="3063240" cy="566928"/>
          </a:xfrm>
          <a:prstGeom prst="rect">
            <a:avLst/>
          </a:prstGeom>
          <a:noFill/>
          <a:ln/>
        </p:spPr>
        <p:txBody>
          <a:bodyPr wrap="square" lIns="0" tIns="0" rIns="0" bIns="0" rtlCol="0" anchor="ctr"/>
          <a:lstStyle/>
          <a:p>
            <a:pPr indent="0" marL="0">
              <a:lnSpc>
                <a:spcPts val="2000"/>
              </a:lnSpc>
              <a:buNone/>
            </a:pPr>
            <a:r>
              <a:rPr lang="en-US" sz="1500" b="1" dirty="0">
                <a:solidFill>
                  <a:srgbClr val="FF5C00"/>
                </a:solidFill>
                <a:latin typeface="Calibri" pitchFamily="34" charset="0"/>
                <a:ea typeface="Calibri" pitchFamily="34" charset="-122"/>
                <a:cs typeface="Calibri" pitchFamily="34" charset="-120"/>
              </a:rPr>
              <a:t>Nothing is compiled in</a:t>
            </a:r>
            <a:endParaRPr lang="en-US" sz="1500" dirty="0"/>
          </a:p>
        </p:txBody>
      </p:sp>
      <p:sp>
        <p:nvSpPr>
          <p:cNvPr id="10" name="Text 7"/>
          <p:cNvSpPr/>
          <p:nvPr/>
        </p:nvSpPr>
        <p:spPr>
          <a:xfrm>
            <a:off x="4572000" y="2578608"/>
            <a:ext cx="3063240" cy="77724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The plan is written against the page on screen. Same build: GitHub, YouTube, an internal tool.</a:t>
            </a:r>
            <a:endParaRPr lang="en-US" sz="1200" dirty="0"/>
          </a:p>
        </p:txBody>
      </p:sp>
      <p:sp>
        <p:nvSpPr>
          <p:cNvPr id="11" name="Shape 8"/>
          <p:cNvSpPr/>
          <p:nvPr/>
        </p:nvSpPr>
        <p:spPr>
          <a:xfrm>
            <a:off x="8065008" y="1783080"/>
            <a:ext cx="3566160" cy="1691640"/>
          </a:xfrm>
          <a:prstGeom prst="roundRect">
            <a:avLst>
              <a:gd name="adj" fmla="val 4324"/>
            </a:avLst>
          </a:prstGeom>
          <a:solidFill>
            <a:srgbClr val="1A202C"/>
          </a:solidFill>
          <a:ln w="6350">
            <a:solidFill>
              <a:srgbClr val="1A202C"/>
            </a:solidFill>
            <a:prstDash val="solid"/>
          </a:ln>
        </p:spPr>
      </p:sp>
      <p:sp>
        <p:nvSpPr>
          <p:cNvPr id="12" name="Text 9"/>
          <p:cNvSpPr/>
          <p:nvPr/>
        </p:nvSpPr>
        <p:spPr>
          <a:xfrm>
            <a:off x="8321040" y="1993392"/>
            <a:ext cx="3063240" cy="566928"/>
          </a:xfrm>
          <a:prstGeom prst="rect">
            <a:avLst/>
          </a:prstGeom>
          <a:noFill/>
          <a:ln/>
        </p:spPr>
        <p:txBody>
          <a:bodyPr wrap="square" lIns="0" tIns="0" rIns="0" bIns="0" rtlCol="0" anchor="ctr"/>
          <a:lstStyle/>
          <a:p>
            <a:pPr indent="0" marL="0">
              <a:lnSpc>
                <a:spcPts val="2000"/>
              </a:lnSpc>
              <a:buNone/>
            </a:pPr>
            <a:r>
              <a:rPr lang="en-US" sz="1500" b="1" dirty="0">
                <a:solidFill>
                  <a:srgbClr val="FF5C00"/>
                </a:solidFill>
                <a:latin typeface="Calibri" pitchFamily="34" charset="0"/>
                <a:ea typeface="Calibri" pitchFamily="34" charset="-122"/>
                <a:cs typeface="Calibri" pitchFamily="34" charset="-120"/>
              </a:rPr>
              <a:t>Real products break agents</a:t>
            </a:r>
            <a:endParaRPr lang="en-US" sz="1500" dirty="0"/>
          </a:p>
        </p:txBody>
      </p:sp>
      <p:sp>
        <p:nvSpPr>
          <p:cNvPr id="13" name="Text 10"/>
          <p:cNvSpPr/>
          <p:nvPr/>
        </p:nvSpPr>
        <p:spPr>
          <a:xfrm>
            <a:off x="8321040" y="2578608"/>
            <a:ext cx="3063240" cy="77724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Seven defects passed unit tests and failed live. All seven found by running it, not by reading it.</a:t>
            </a:r>
            <a:endParaRPr lang="en-US" sz="1200" dirty="0"/>
          </a:p>
        </p:txBody>
      </p:sp>
      <p:sp>
        <p:nvSpPr>
          <p:cNvPr id="14" name="Shape 11"/>
          <p:cNvSpPr/>
          <p:nvPr/>
        </p:nvSpPr>
        <p:spPr>
          <a:xfrm>
            <a:off x="566928" y="3703320"/>
            <a:ext cx="5440680" cy="1828800"/>
          </a:xfrm>
          <a:prstGeom prst="roundRect">
            <a:avLst>
              <a:gd name="adj" fmla="val 4000"/>
            </a:avLst>
          </a:prstGeom>
          <a:solidFill>
            <a:srgbClr val="232B3A"/>
          </a:solidFill>
          <a:ln w="6350">
            <a:solidFill>
              <a:srgbClr val="232B3A"/>
            </a:solidFill>
            <a:prstDash val="solid"/>
          </a:ln>
        </p:spPr>
      </p:sp>
      <p:sp>
        <p:nvSpPr>
          <p:cNvPr id="15" name="Text 12"/>
          <p:cNvSpPr/>
          <p:nvPr/>
        </p:nvSpPr>
        <p:spPr>
          <a:xfrm>
            <a:off x="859536" y="3886200"/>
            <a:ext cx="4846320" cy="274320"/>
          </a:xfrm>
          <a:prstGeom prst="rect">
            <a:avLst/>
          </a:prstGeom>
          <a:noFill/>
          <a:ln/>
        </p:spPr>
        <p:txBody>
          <a:bodyPr wrap="square" lIns="0" tIns="0" rIns="0" bIns="0" rtlCol="0" anchor="ctr"/>
          <a:lstStyle/>
          <a:p>
            <a:pPr indent="0" marL="0">
              <a:buNone/>
            </a:pPr>
            <a:r>
              <a:rPr lang="en-US" sz="1400" b="1" dirty="0">
                <a:solidFill>
                  <a:srgbClr val="EDF1F8"/>
                </a:solidFill>
                <a:latin typeface="Calibri" pitchFamily="34" charset="0"/>
                <a:ea typeface="Calibri" pitchFamily="34" charset="-122"/>
                <a:cs typeface="Calibri" pitchFamily="34" charset="-120"/>
              </a:rPr>
              <a:t>What I can't claim yet</a:t>
            </a:r>
            <a:endParaRPr lang="en-US" sz="1400" dirty="0"/>
          </a:p>
        </p:txBody>
      </p:sp>
      <p:sp>
        <p:nvSpPr>
          <p:cNvPr id="16" name="Text 13"/>
          <p:cNvSpPr/>
          <p:nvPr/>
        </p:nvSpPr>
        <p:spPr>
          <a:xfrm>
            <a:off x="859536" y="4206240"/>
            <a:ext cx="4892040" cy="118872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The “yes, I'll sign in” branch has unit coverage but no real interactive login — by design, the agent cannot do that itself. And live runs were driven by a scripted client; the UI is verified by screenshot and type-check, not a full click-through.</a:t>
            </a:r>
            <a:endParaRPr lang="en-US" sz="1200" dirty="0"/>
          </a:p>
        </p:txBody>
      </p:sp>
      <p:sp>
        <p:nvSpPr>
          <p:cNvPr id="17" name="Shape 14"/>
          <p:cNvSpPr/>
          <p:nvPr/>
        </p:nvSpPr>
        <p:spPr>
          <a:xfrm>
            <a:off x="6263640" y="3703320"/>
            <a:ext cx="5349240" cy="1828800"/>
          </a:xfrm>
          <a:prstGeom prst="roundRect">
            <a:avLst>
              <a:gd name="adj" fmla="val 4000"/>
            </a:avLst>
          </a:prstGeom>
          <a:solidFill>
            <a:srgbClr val="232B3A"/>
          </a:solidFill>
          <a:ln w="6350">
            <a:solidFill>
              <a:srgbClr val="232B3A"/>
            </a:solidFill>
            <a:prstDash val="solid"/>
          </a:ln>
        </p:spPr>
      </p:sp>
      <p:sp>
        <p:nvSpPr>
          <p:cNvPr id="18" name="Text 15"/>
          <p:cNvSpPr/>
          <p:nvPr/>
        </p:nvSpPr>
        <p:spPr>
          <a:xfrm>
            <a:off x="6556248" y="3886200"/>
            <a:ext cx="4754880" cy="274320"/>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Bonus features, delivered</a:t>
            </a:r>
            <a:endParaRPr lang="en-US" sz="1400" dirty="0"/>
          </a:p>
        </p:txBody>
      </p:sp>
      <p:sp>
        <p:nvSpPr>
          <p:cNvPr id="19" name="Text 16"/>
          <p:cNvSpPr/>
          <p:nvPr/>
        </p:nvSpPr>
        <p:spPr>
          <a:xfrm>
            <a:off x="6556248" y="4206240"/>
            <a:ext cx="4800600" cy="1188720"/>
          </a:xfrm>
          <a:prstGeom prst="rect">
            <a:avLst/>
          </a:prstGeom>
          <a:noFill/>
          <a:ln/>
        </p:spPr>
        <p:txBody>
          <a:bodyPr wrap="square" lIns="0" tIns="0" rIns="0" bIns="0" rtlCol="0" anchor="ctr"/>
          <a:lstStyle/>
          <a:p>
            <a:pPr indent="0" marL="0">
              <a:lnSpc>
                <a:spcPts val="1600"/>
              </a:lnSpc>
              <a:buNone/>
            </a:pPr>
            <a:r>
              <a:rPr lang="en-US" sz="1200" dirty="0">
                <a:solidFill>
                  <a:srgbClr val="8E99AE"/>
                </a:solidFill>
                <a:latin typeface="Calibri" pitchFamily="34" charset="0"/>
                <a:ea typeface="Calibri" pitchFamily="34" charset="-122"/>
                <a:cs typeface="Calibri" pitchFamily="34" charset="-120"/>
              </a:rPr>
              <a:t>Voice narration (cancels the instant someone interrupts) · plan-changing interruptions (completed steps preserved verbatim) · workflow memory (the second demo of the same product skips planning entirely).</a:t>
            </a:r>
            <a:endParaRPr lang="en-US" sz="1200" dirty="0"/>
          </a:p>
        </p:txBody>
      </p:sp>
      <p:sp>
        <p:nvSpPr>
          <p:cNvPr id="20" name="Text 17"/>
          <p:cNvSpPr/>
          <p:nvPr/>
        </p:nvSpPr>
        <p:spPr>
          <a:xfrm>
            <a:off x="566928" y="5806440"/>
            <a:ext cx="11064240" cy="365760"/>
          </a:xfrm>
          <a:prstGeom prst="rect">
            <a:avLst/>
          </a:prstGeom>
          <a:noFill/>
          <a:ln/>
        </p:spPr>
        <p:txBody>
          <a:bodyPr wrap="square" lIns="0" tIns="0" rIns="0" bIns="0" rtlCol="0" anchor="ctr"/>
          <a:lstStyle/>
          <a:p>
            <a:pPr indent="0" marL="0">
              <a:buNone/>
            </a:pPr>
            <a:r>
              <a:rPr lang="en-US" sz="1700" b="1" dirty="0">
                <a:solidFill>
                  <a:srgbClr val="EDF1F8"/>
                </a:solidFill>
                <a:latin typeface="Cambria" pitchFamily="34" charset="0"/>
                <a:ea typeface="Cambria" pitchFamily="34" charset="-122"/>
                <a:cs typeface="Cambria" pitchFamily="34" charset="-120"/>
              </a:rPr>
              <a:t>Happy to run it live — one button, and it opens Chrome itself.</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Walkthrough Agent</dc:title>
  <dc:subject>PptxGenJS Presentation</dc:subject>
  <dc:creator>ShowRunner</dc:creator>
  <cp:lastModifiedBy>ShowRunner</cp:lastModifiedBy>
  <cp:revision>1</cp:revision>
  <dcterms:created xsi:type="dcterms:W3CDTF">2026-08-15T11:59:08Z</dcterms:created>
  <dcterms:modified xsi:type="dcterms:W3CDTF">2026-08-15T11:59:08Z</dcterms:modified>
</cp:coreProperties>
</file>